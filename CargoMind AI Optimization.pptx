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oboto Bold" charset="1" panose="02000000000000000000"/>
      <p:regular r:id="rId14"/>
    </p:embeddedFont>
    <p:embeddedFont>
      <p:font typeface="Roboto" charset="1" panose="02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14" Target="../media/image17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12" Target="../media/image49.png" Type="http://schemas.openxmlformats.org/officeDocument/2006/relationships/image"/><Relationship Id="rId13" Target="../media/image50.png" Type="http://schemas.openxmlformats.org/officeDocument/2006/relationships/image"/><Relationship Id="rId14" Target="../media/image51.png" Type="http://schemas.openxmlformats.org/officeDocument/2006/relationships/image"/><Relationship Id="rId15" Target="../media/image52.png" Type="http://schemas.openxmlformats.org/officeDocument/2006/relationships/image"/><Relationship Id="rId16" Target="../media/image53.png" Type="http://schemas.openxmlformats.org/officeDocument/2006/relationships/image"/><Relationship Id="rId17" Target="../media/image54.png" Type="http://schemas.openxmlformats.org/officeDocument/2006/relationships/image"/><Relationship Id="rId18" Target="../media/image55.png" Type="http://schemas.openxmlformats.org/officeDocument/2006/relationships/image"/><Relationship Id="rId19" Target="../media/image56.png" Type="http://schemas.openxmlformats.org/officeDocument/2006/relationships/image"/><Relationship Id="rId2" Target="../media/image39.png" Type="http://schemas.openxmlformats.org/officeDocument/2006/relationships/image"/><Relationship Id="rId20" Target="../media/image57.png" Type="http://schemas.openxmlformats.org/officeDocument/2006/relationships/image"/><Relationship Id="rId21" Target="../media/image58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11" Target="../media/image68.png" Type="http://schemas.openxmlformats.org/officeDocument/2006/relationships/image"/><Relationship Id="rId12" Target="../media/image69.png" Type="http://schemas.openxmlformats.org/officeDocument/2006/relationships/image"/><Relationship Id="rId13" Target="../media/image70.png" Type="http://schemas.openxmlformats.org/officeDocument/2006/relationships/image"/><Relationship Id="rId14" Target="../media/image71.png" Type="http://schemas.openxmlformats.org/officeDocument/2006/relationships/image"/><Relationship Id="rId15" Target="../media/image72.png" Type="http://schemas.openxmlformats.org/officeDocument/2006/relationships/image"/><Relationship Id="rId16" Target="../media/image73.png" Type="http://schemas.openxmlformats.org/officeDocument/2006/relationships/image"/><Relationship Id="rId17" Target="../media/image74.png" Type="http://schemas.openxmlformats.org/officeDocument/2006/relationships/image"/><Relationship Id="rId18" Target="../media/image75.png" Type="http://schemas.openxmlformats.org/officeDocument/2006/relationships/image"/><Relationship Id="rId19" Target="../media/image76.png" Type="http://schemas.openxmlformats.org/officeDocument/2006/relationships/image"/><Relationship Id="rId2" Target="../media/image59.png" Type="http://schemas.openxmlformats.org/officeDocument/2006/relationships/image"/><Relationship Id="rId20" Target="../media/image77.png" Type="http://schemas.openxmlformats.org/officeDocument/2006/relationships/image"/><Relationship Id="rId21" Target="../media/image78.png" Type="http://schemas.openxmlformats.org/officeDocument/2006/relationships/image"/><Relationship Id="rId3" Target="../media/image60.png" Type="http://schemas.openxmlformats.org/officeDocument/2006/relationships/image"/><Relationship Id="rId4" Target="../media/image61.png" Type="http://schemas.openxmlformats.org/officeDocument/2006/relationships/image"/><Relationship Id="rId5" Target="../media/image62.png" Type="http://schemas.openxmlformats.org/officeDocument/2006/relationships/image"/><Relationship Id="rId6" Target="../media/image63.png" Type="http://schemas.openxmlformats.org/officeDocument/2006/relationships/image"/><Relationship Id="rId7" Target="../media/image64.png" Type="http://schemas.openxmlformats.org/officeDocument/2006/relationships/image"/><Relationship Id="rId8" Target="../media/image65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7.png" Type="http://schemas.openxmlformats.org/officeDocument/2006/relationships/image"/><Relationship Id="rId11" Target="../media/image88.png" Type="http://schemas.openxmlformats.org/officeDocument/2006/relationships/image"/><Relationship Id="rId12" Target="../media/image89.png" Type="http://schemas.openxmlformats.org/officeDocument/2006/relationships/image"/><Relationship Id="rId13" Target="../media/image90.png" Type="http://schemas.openxmlformats.org/officeDocument/2006/relationships/image"/><Relationship Id="rId14" Target="../media/image91.png" Type="http://schemas.openxmlformats.org/officeDocument/2006/relationships/image"/><Relationship Id="rId2" Target="../media/image79.png" Type="http://schemas.openxmlformats.org/officeDocument/2006/relationships/image"/><Relationship Id="rId3" Target="../media/image80.png" Type="http://schemas.openxmlformats.org/officeDocument/2006/relationships/image"/><Relationship Id="rId4" Target="../media/image81.png" Type="http://schemas.openxmlformats.org/officeDocument/2006/relationships/image"/><Relationship Id="rId5" Target="../media/image82.png" Type="http://schemas.openxmlformats.org/officeDocument/2006/relationships/image"/><Relationship Id="rId6" Target="../media/image83.png" Type="http://schemas.openxmlformats.org/officeDocument/2006/relationships/image"/><Relationship Id="rId7" Target="../media/image84.png" Type="http://schemas.openxmlformats.org/officeDocument/2006/relationships/image"/><Relationship Id="rId8" Target="../media/image85.png" Type="http://schemas.openxmlformats.org/officeDocument/2006/relationships/image"/><Relationship Id="rId9" Target="../media/image8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6384" y="2006997"/>
            <a:ext cx="9838944" cy="369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41"/>
              </a:lnSpc>
            </a:pPr>
            <a:r>
              <a:rPr lang="en-US" sz="9181" spc="-45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CargoMind </a:t>
            </a:r>
            <a:r>
              <a:rPr lang="en-US" sz="9181" spc="-459" b="true">
                <a:solidFill>
                  <a:srgbClr val="FBB00C"/>
                </a:solidFill>
                <a:latin typeface="Roboto Bold"/>
                <a:ea typeface="Roboto Bold"/>
                <a:cs typeface="Roboto Bold"/>
                <a:sym typeface="Roboto Bold"/>
              </a:rPr>
              <a:t>AI</a:t>
            </a:r>
            <a:r>
              <a:rPr lang="en-US" sz="9181" spc="-45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- Intelligent Container Yard Optimization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6384" y="5983779"/>
            <a:ext cx="7388352" cy="1040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9"/>
              </a:lnSpc>
            </a:pPr>
            <a:r>
              <a:rPr lang="en-US" sz="2978" spc="-8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AI-powered container terminal management system for optimal storage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6384" y="7830125"/>
            <a:ext cx="5909710" cy="129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b="true" sz="2723" spc="-8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By</a:t>
            </a:r>
          </a:p>
          <a:p>
            <a:pPr algn="ctr">
              <a:lnSpc>
                <a:spcPts val="3404"/>
              </a:lnSpc>
            </a:pPr>
            <a:r>
              <a:rPr lang="en-US" b="true" sz="2723" spc="-8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Mohamed Humaid Zahir Hussain</a:t>
            </a:r>
          </a:p>
          <a:p>
            <a:pPr algn="ctr">
              <a:lnSpc>
                <a:spcPts val="3404"/>
              </a:lnSpc>
              <a:spcBef>
                <a:spcPct val="0"/>
              </a:spcBef>
            </a:pPr>
            <a:r>
              <a:rPr lang="en-US" b="true" sz="2723" spc="-8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Naveen 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2414402" cy="10287000"/>
          </a:xfrm>
          <a:custGeom>
            <a:avLst/>
            <a:gdLst/>
            <a:ahLst/>
            <a:cxnLst/>
            <a:rect r="r" b="b" t="t" l="l"/>
            <a:pathLst>
              <a:path h="10287000" w="12414402">
                <a:moveTo>
                  <a:pt x="0" y="0"/>
                </a:moveTo>
                <a:lnTo>
                  <a:pt x="12414402" y="0"/>
                </a:lnTo>
                <a:lnTo>
                  <a:pt x="124144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03464" y="0"/>
            <a:ext cx="5884536" cy="10287000"/>
          </a:xfrm>
          <a:custGeom>
            <a:avLst/>
            <a:gdLst/>
            <a:ahLst/>
            <a:cxnLst/>
            <a:rect r="r" b="b" t="t" l="l"/>
            <a:pathLst>
              <a:path h="10287000" w="5884536">
                <a:moveTo>
                  <a:pt x="0" y="0"/>
                </a:moveTo>
                <a:lnTo>
                  <a:pt x="5884536" y="0"/>
                </a:lnTo>
                <a:lnTo>
                  <a:pt x="58845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3504" y="578349"/>
            <a:ext cx="7351776" cy="1200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17"/>
              </a:lnSpc>
            </a:pPr>
            <a:r>
              <a:rPr lang="en-US" sz="7012" spc="-28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3504" y="1947625"/>
            <a:ext cx="7688789" cy="1822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2420" spc="-9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Container yards face complex storage decisions because containers must be positioned while considering space, weight, priority, hazards, reefer requirements, and future retrieval.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3504" y="4209402"/>
            <a:ext cx="5193792" cy="4565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sz="2423" spc="-9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Existing Challenges</a:t>
            </a:r>
          </a:p>
          <a:p>
            <a:pPr algn="l" marL="523275" indent="-261638" lvl="1">
              <a:lnSpc>
                <a:spcPts val="3635"/>
              </a:lnSpc>
              <a:buFont typeface="Arial"/>
              <a:buChar char="•"/>
            </a:pPr>
            <a:r>
              <a:rPr lang="en-US" sz="2423" spc="-9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Manual container placement decisions</a:t>
            </a:r>
          </a:p>
          <a:p>
            <a:pPr algn="l" marL="523275" indent="-261638" lvl="1">
              <a:lnSpc>
                <a:spcPts val="3635"/>
              </a:lnSpc>
              <a:buFont typeface="Arial"/>
              <a:buChar char="•"/>
            </a:pPr>
            <a:r>
              <a:rPr lang="en-US" sz="2423" spc="-9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Inefficient yard utilization</a:t>
            </a:r>
          </a:p>
          <a:p>
            <a:pPr algn="l" marL="523275" indent="-261638" lvl="1">
              <a:lnSpc>
                <a:spcPts val="3635"/>
              </a:lnSpc>
              <a:buFont typeface="Arial"/>
              <a:buChar char="•"/>
            </a:pPr>
            <a:r>
              <a:rPr lang="en-US" sz="2423" spc="-9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Excessive crane movement</a:t>
            </a:r>
          </a:p>
          <a:p>
            <a:pPr algn="l" marL="523275" indent="-261638" lvl="1">
              <a:lnSpc>
                <a:spcPts val="3635"/>
              </a:lnSpc>
              <a:buFont typeface="Arial"/>
              <a:buChar char="•"/>
            </a:pPr>
            <a:r>
              <a:rPr lang="en-US" sz="2423" spc="-9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Container reshuffling</a:t>
            </a:r>
          </a:p>
          <a:p>
            <a:pPr algn="l" marL="523275" indent="-261638" lvl="1">
              <a:lnSpc>
                <a:spcPts val="3635"/>
              </a:lnSpc>
              <a:buFont typeface="Arial"/>
              <a:buChar char="•"/>
            </a:pPr>
            <a:r>
              <a:rPr lang="en-US" sz="2423" spc="-9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Difficult retrieval of priority containers</a:t>
            </a:r>
          </a:p>
          <a:p>
            <a:pPr algn="l" marL="523275" indent="-261638" lvl="1">
              <a:lnSpc>
                <a:spcPts val="3635"/>
              </a:lnSpc>
              <a:buFont typeface="Arial"/>
              <a:buChar char="•"/>
            </a:pPr>
            <a:r>
              <a:rPr lang="en-US" sz="2423" spc="-9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Multiple operational constraints</a:t>
            </a:r>
          </a:p>
          <a:p>
            <a:pPr algn="l" marL="523275" indent="-261638" lvl="1">
              <a:lnSpc>
                <a:spcPts val="3635"/>
              </a:lnSpc>
              <a:buFont typeface="Arial"/>
              <a:buChar char="•"/>
            </a:pPr>
            <a:r>
              <a:rPr lang="en-US" sz="2423" spc="-96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Increasing yard complexity</a:t>
            </a:r>
          </a:p>
          <a:p>
            <a:pPr algn="l">
              <a:lnSpc>
                <a:spcPts val="363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149840" y="8348880"/>
            <a:ext cx="2907792" cy="425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9"/>
              </a:lnSpc>
            </a:pPr>
            <a:r>
              <a:rPr lang="en-US" b="true" sz="2299" spc="-91">
                <a:solidFill>
                  <a:srgbClr val="001532"/>
                </a:solidFill>
                <a:latin typeface="Roboto Bold"/>
                <a:ea typeface="Roboto Bold"/>
                <a:cs typeface="Roboto Bold"/>
                <a:sym typeface="Roboto Bold"/>
              </a:rPr>
              <a:t>OPERATIONAL COST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1792" y="418472"/>
            <a:ext cx="7205472" cy="1095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39"/>
              </a:lnSpc>
            </a:pPr>
            <a:r>
              <a:rPr lang="en-US" sz="8239" spc="-41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Literature Survey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8625" y="1495425"/>
            <a:ext cx="7629525" cy="219075"/>
          </a:xfrm>
          <a:custGeom>
            <a:avLst/>
            <a:gdLst/>
            <a:ahLst/>
            <a:cxnLst/>
            <a:rect r="r" b="b" t="t" l="l"/>
            <a:pathLst>
              <a:path h="219075" w="7629525">
                <a:moveTo>
                  <a:pt x="0" y="0"/>
                </a:moveTo>
                <a:lnTo>
                  <a:pt x="7629525" y="0"/>
                </a:lnTo>
                <a:lnTo>
                  <a:pt x="7629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8625" y="1714500"/>
            <a:ext cx="885825" cy="647700"/>
          </a:xfrm>
          <a:custGeom>
            <a:avLst/>
            <a:gdLst/>
            <a:ahLst/>
            <a:cxnLst/>
            <a:rect r="r" b="b" t="t" l="l"/>
            <a:pathLst>
              <a:path h="647700" w="885825">
                <a:moveTo>
                  <a:pt x="0" y="0"/>
                </a:moveTo>
                <a:lnTo>
                  <a:pt x="885825" y="0"/>
                </a:lnTo>
                <a:lnTo>
                  <a:pt x="8858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80160" y="1830229"/>
            <a:ext cx="2633472" cy="399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2"/>
              </a:lnSpc>
            </a:pPr>
            <a:r>
              <a:rPr lang="en-US" sz="2962" spc="-88" b="true">
                <a:solidFill>
                  <a:srgbClr val="00C9FF"/>
                </a:solidFill>
                <a:latin typeface="Roboto Bold"/>
                <a:ea typeface="Roboto Bold"/>
                <a:cs typeface="Roboto Bold"/>
                <a:sym typeface="Roboto Bold"/>
              </a:rPr>
              <a:t>Selected studies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8625" y="2143125"/>
            <a:ext cx="17211675" cy="5572125"/>
          </a:xfrm>
          <a:custGeom>
            <a:avLst/>
            <a:gdLst/>
            <a:ahLst/>
            <a:cxnLst/>
            <a:rect r="r" b="b" t="t" l="l"/>
            <a:pathLst>
              <a:path h="5572125" w="17211675">
                <a:moveTo>
                  <a:pt x="0" y="0"/>
                </a:moveTo>
                <a:lnTo>
                  <a:pt x="17211675" y="0"/>
                </a:lnTo>
                <a:lnTo>
                  <a:pt x="17211675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6775" y="23526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64208" y="2591119"/>
            <a:ext cx="932688" cy="410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3019" spc="-9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Study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876925" y="23526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638544" y="2569724"/>
            <a:ext cx="1060704" cy="443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4"/>
              </a:lnSpc>
            </a:pPr>
            <a:r>
              <a:rPr lang="en-US" sz="3204" spc="-9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Focus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668000" y="2352675"/>
            <a:ext cx="438150" cy="647700"/>
          </a:xfrm>
          <a:custGeom>
            <a:avLst/>
            <a:gdLst/>
            <a:ahLst/>
            <a:cxnLst/>
            <a:rect r="r" b="b" t="t" l="l"/>
            <a:pathLst>
              <a:path h="647700" w="438150">
                <a:moveTo>
                  <a:pt x="0" y="0"/>
                </a:moveTo>
                <a:lnTo>
                  <a:pt x="438150" y="0"/>
                </a:lnTo>
                <a:lnTo>
                  <a:pt x="4381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283696" y="2585575"/>
            <a:ext cx="1865376" cy="421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3081" spc="-9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Key finding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66775" y="3429000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73936" y="3593068"/>
            <a:ext cx="3054096" cy="847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2925" spc="-8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Carlo, Vis &amp; Roodbergen (2014)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35040" y="3566898"/>
            <a:ext cx="3730752" cy="437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887" spc="-8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Storage yard operations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16768" y="3405759"/>
            <a:ext cx="6839712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7"/>
              </a:lnSpc>
            </a:pPr>
            <a:r>
              <a:rPr lang="en-US" sz="2814" spc="-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Storage assignment, MHE dispatching/routing, and reshuffling are major yard decision problems.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66775" y="4924425"/>
            <a:ext cx="657225" cy="866775"/>
          </a:xfrm>
          <a:custGeom>
            <a:avLst/>
            <a:gdLst/>
            <a:ahLst/>
            <a:cxnLst/>
            <a:rect r="r" b="b" t="t" l="l"/>
            <a:pathLst>
              <a:path h="866775" w="65722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73936" y="5150215"/>
            <a:ext cx="3273552" cy="428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2925" spc="-8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Dayama et al. (2014)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35040" y="5145691"/>
            <a:ext cx="2907792" cy="427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850" spc="-8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Container stacking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16768" y="4933188"/>
            <a:ext cx="6181344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</a:pPr>
            <a:r>
              <a:rPr lang="en-US" sz="2962" spc="-8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Considers both crane route distance and stack rearrangement costs.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66775" y="6429375"/>
            <a:ext cx="657225" cy="647700"/>
          </a:xfrm>
          <a:custGeom>
            <a:avLst/>
            <a:gdLst/>
            <a:ahLst/>
            <a:cxnLst/>
            <a:rect r="r" b="b" t="t" l="l"/>
            <a:pathLst>
              <a:path h="647700" w="657225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773936" y="6519267"/>
            <a:ext cx="3621024" cy="437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887" spc="-86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Zhou, Wang &amp; Li (2020)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35040" y="6320528"/>
            <a:ext cx="2926080" cy="876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962" spc="-8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Space allocation + reshuffling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16768" y="6142101"/>
            <a:ext cx="658368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7"/>
              </a:lnSpc>
            </a:pPr>
            <a:r>
              <a:rPr lang="en-US" sz="2814" spc="-84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Integrating reshuffling into space allocation shows that ignoring reshuffling can overestimate effective yard capacity.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428625" y="7715250"/>
            <a:ext cx="17211675" cy="2362200"/>
          </a:xfrm>
          <a:custGeom>
            <a:avLst/>
            <a:gdLst/>
            <a:ahLst/>
            <a:cxnLst/>
            <a:rect r="r" b="b" t="t" l="l"/>
            <a:pathLst>
              <a:path h="2362200" w="17211675">
                <a:moveTo>
                  <a:pt x="0" y="0"/>
                </a:moveTo>
                <a:lnTo>
                  <a:pt x="17211675" y="0"/>
                </a:lnTo>
                <a:lnTo>
                  <a:pt x="17211675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85850" y="814387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390775" y="7924800"/>
            <a:ext cx="228600" cy="1933575"/>
          </a:xfrm>
          <a:custGeom>
            <a:avLst/>
            <a:gdLst/>
            <a:ahLst/>
            <a:cxnLst/>
            <a:rect r="r" b="b" t="t" l="l"/>
            <a:pathLst>
              <a:path h="1933575" w="228600">
                <a:moveTo>
                  <a:pt x="0" y="0"/>
                </a:moveTo>
                <a:lnTo>
                  <a:pt x="228600" y="0"/>
                </a:lnTo>
                <a:lnTo>
                  <a:pt x="2286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926080" y="8253413"/>
            <a:ext cx="1366113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5"/>
              </a:lnSpc>
            </a:pPr>
            <a:r>
              <a:rPr lang="en-US" sz="2679" spc="-8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Existing research provides strong optimization models for specific yard decisions, but there is an opportunity to </a:t>
            </a:r>
            <a:r>
              <a:rPr lang="en-US" sz="2679" spc="-80" b="true">
                <a:solidFill>
                  <a:srgbClr val="00C9FF"/>
                </a:solidFill>
                <a:latin typeface="Roboto Bold"/>
                <a:ea typeface="Roboto Bold"/>
                <a:cs typeface="Roboto Bold"/>
                <a:sym typeface="Roboto Bold"/>
              </a:rPr>
              <a:t>combine multiple AI decision mechanisms into one practical decision-support application.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60704" y="3586663"/>
            <a:ext cx="274320" cy="39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1"/>
              </a:lnSpc>
            </a:pPr>
            <a:r>
              <a:rPr lang="en-US" b="true" sz="2662" spc="-7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0704" y="5160574"/>
            <a:ext cx="274320" cy="39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1"/>
              </a:lnSpc>
            </a:pPr>
            <a:r>
              <a:rPr lang="en-US" b="true" sz="2662" spc="-7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60704" y="6539032"/>
            <a:ext cx="274320" cy="39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1"/>
              </a:lnSpc>
            </a:pPr>
            <a:r>
              <a:rPr lang="en-US" b="true" sz="2662" spc="-7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4944" y="759622"/>
            <a:ext cx="5449824" cy="999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2"/>
              </a:lnSpc>
            </a:pPr>
            <a:r>
              <a:rPr lang="en-US" sz="7552" spc="-37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Research Gap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142670"/>
            <a:ext cx="5676718" cy="5575313"/>
          </a:xfrm>
          <a:custGeom>
            <a:avLst/>
            <a:gdLst/>
            <a:ahLst/>
            <a:cxnLst/>
            <a:rect r="r" b="b" t="t" l="l"/>
            <a:pathLst>
              <a:path h="5575313" w="5676718">
                <a:moveTo>
                  <a:pt x="0" y="0"/>
                </a:moveTo>
                <a:lnTo>
                  <a:pt x="5676718" y="0"/>
                </a:lnTo>
                <a:lnTo>
                  <a:pt x="5676718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28800" y="2456319"/>
            <a:ext cx="3236976" cy="330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9"/>
              </a:lnSpc>
            </a:pPr>
            <a:r>
              <a:rPr lang="en-US" b="true" sz="2469" spc="-12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EXISTING APPROACHES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0432" y="3680472"/>
            <a:ext cx="4187952" cy="330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2469" spc="-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Focus on individual problems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70432" y="4616589"/>
            <a:ext cx="3730752" cy="330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2469" spc="-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Separate reshuffling logic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0432" y="5562993"/>
            <a:ext cx="3127248" cy="330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2469" spc="-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Limited AI integration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0432" y="6509397"/>
            <a:ext cx="2724912" cy="330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2469" spc="-4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Little explainability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48622" y="2142670"/>
            <a:ext cx="10894048" cy="5575313"/>
          </a:xfrm>
          <a:custGeom>
            <a:avLst/>
            <a:gdLst/>
            <a:ahLst/>
            <a:cxnLst/>
            <a:rect r="r" b="b" t="t" l="l"/>
            <a:pathLst>
              <a:path h="5575313" w="10894048">
                <a:moveTo>
                  <a:pt x="0" y="0"/>
                </a:moveTo>
                <a:lnTo>
                  <a:pt x="10894048" y="0"/>
                </a:lnTo>
                <a:lnTo>
                  <a:pt x="10894048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748622" y="2142670"/>
            <a:ext cx="10894048" cy="863627"/>
          </a:xfrm>
          <a:custGeom>
            <a:avLst/>
            <a:gdLst/>
            <a:ahLst/>
            <a:cxnLst/>
            <a:rect r="r" b="b" t="t" l="l"/>
            <a:pathLst>
              <a:path h="863627" w="10894048">
                <a:moveTo>
                  <a:pt x="0" y="0"/>
                </a:moveTo>
                <a:lnTo>
                  <a:pt x="10894048" y="0"/>
                </a:lnTo>
                <a:lnTo>
                  <a:pt x="1089404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96144" y="2456319"/>
            <a:ext cx="3913632" cy="330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69"/>
              </a:lnSpc>
            </a:pPr>
            <a:r>
              <a:rPr lang="en-US" b="true" sz="2469" spc="-12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PROPOSED GAP ADDRESSED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956440" y="3214004"/>
            <a:ext cx="1979742" cy="1508614"/>
          </a:xfrm>
          <a:custGeom>
            <a:avLst/>
            <a:gdLst/>
            <a:ahLst/>
            <a:cxnLst/>
            <a:rect r="r" b="b" t="t" l="l"/>
            <a:pathLst>
              <a:path h="1508614" w="1979742">
                <a:moveTo>
                  <a:pt x="0" y="0"/>
                </a:moveTo>
                <a:lnTo>
                  <a:pt x="1979742" y="0"/>
                </a:lnTo>
                <a:lnTo>
                  <a:pt x="197974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925244" y="3214004"/>
            <a:ext cx="2187560" cy="1508614"/>
          </a:xfrm>
          <a:custGeom>
            <a:avLst/>
            <a:gdLst/>
            <a:ahLst/>
            <a:cxnLst/>
            <a:rect r="r" b="b" t="t" l="l"/>
            <a:pathLst>
              <a:path h="1508614" w="2187560">
                <a:moveTo>
                  <a:pt x="0" y="0"/>
                </a:moveTo>
                <a:lnTo>
                  <a:pt x="2187560" y="0"/>
                </a:lnTo>
                <a:lnTo>
                  <a:pt x="2187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345168" y="3688822"/>
            <a:ext cx="1426464" cy="56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0"/>
              </a:lnSpc>
            </a:pPr>
            <a:r>
              <a:rPr lang="en-US" b="true" sz="1738" spc="-8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CONSTRAINT SATISFACTION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101866" y="3214004"/>
            <a:ext cx="2187560" cy="1508614"/>
          </a:xfrm>
          <a:custGeom>
            <a:avLst/>
            <a:gdLst/>
            <a:ahLst/>
            <a:cxnLst/>
            <a:rect r="r" b="b" t="t" l="l"/>
            <a:pathLst>
              <a:path h="1508614" w="2187560">
                <a:moveTo>
                  <a:pt x="0" y="0"/>
                </a:moveTo>
                <a:lnTo>
                  <a:pt x="2187560" y="0"/>
                </a:lnTo>
                <a:lnTo>
                  <a:pt x="2187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466576" y="3831378"/>
            <a:ext cx="1499616" cy="25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"/>
              </a:lnSpc>
            </a:pPr>
            <a:r>
              <a:rPr lang="en-US" b="true" sz="1819" spc="-9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OPTIMIZATION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278488" y="3214004"/>
            <a:ext cx="2187560" cy="1508614"/>
          </a:xfrm>
          <a:custGeom>
            <a:avLst/>
            <a:gdLst/>
            <a:ahLst/>
            <a:cxnLst/>
            <a:rect r="r" b="b" t="t" l="l"/>
            <a:pathLst>
              <a:path h="1508614" w="2187560">
                <a:moveTo>
                  <a:pt x="0" y="0"/>
                </a:moveTo>
                <a:lnTo>
                  <a:pt x="2187560" y="0"/>
                </a:lnTo>
                <a:lnTo>
                  <a:pt x="2187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734288" y="3658458"/>
            <a:ext cx="1335024" cy="616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0"/>
              </a:lnSpc>
            </a:pPr>
            <a:r>
              <a:rPr lang="en-US" b="true" sz="1900" spc="-9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RULE-BASED REASONING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5455110" y="3214004"/>
            <a:ext cx="2187560" cy="1508614"/>
          </a:xfrm>
          <a:custGeom>
            <a:avLst/>
            <a:gdLst/>
            <a:ahLst/>
            <a:cxnLst/>
            <a:rect r="r" b="b" t="t" l="l"/>
            <a:pathLst>
              <a:path h="1508614" w="2187560">
                <a:moveTo>
                  <a:pt x="0" y="0"/>
                </a:moveTo>
                <a:lnTo>
                  <a:pt x="2187560" y="0"/>
                </a:lnTo>
                <a:lnTo>
                  <a:pt x="2187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855696" y="3840391"/>
            <a:ext cx="1298448" cy="24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9"/>
              </a:lnSpc>
            </a:pPr>
            <a:r>
              <a:rPr lang="en-US" b="true" sz="1859" spc="-9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SIMULATION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7831464" y="4493047"/>
            <a:ext cx="8717426" cy="874559"/>
          </a:xfrm>
          <a:custGeom>
            <a:avLst/>
            <a:gdLst/>
            <a:ahLst/>
            <a:cxnLst/>
            <a:rect r="r" b="b" t="t" l="l"/>
            <a:pathLst>
              <a:path h="874559" w="8717426">
                <a:moveTo>
                  <a:pt x="0" y="0"/>
                </a:moveTo>
                <a:lnTo>
                  <a:pt x="8717426" y="0"/>
                </a:lnTo>
                <a:lnTo>
                  <a:pt x="871742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965952" y="4493047"/>
            <a:ext cx="448450" cy="1508614"/>
          </a:xfrm>
          <a:custGeom>
            <a:avLst/>
            <a:gdLst/>
            <a:ahLst/>
            <a:cxnLst/>
            <a:rect r="r" b="b" t="t" l="l"/>
            <a:pathLst>
              <a:path h="1508614" w="448450">
                <a:moveTo>
                  <a:pt x="0" y="0"/>
                </a:moveTo>
                <a:lnTo>
                  <a:pt x="448450" y="0"/>
                </a:lnTo>
                <a:lnTo>
                  <a:pt x="44845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706488" y="5783021"/>
            <a:ext cx="6978316" cy="1289974"/>
          </a:xfrm>
          <a:custGeom>
            <a:avLst/>
            <a:gdLst/>
            <a:ahLst/>
            <a:cxnLst/>
            <a:rect r="r" b="b" t="t" l="l"/>
            <a:pathLst>
              <a:path h="1289974" w="6978316">
                <a:moveTo>
                  <a:pt x="0" y="0"/>
                </a:moveTo>
                <a:lnTo>
                  <a:pt x="6978316" y="0"/>
                </a:lnTo>
                <a:lnTo>
                  <a:pt x="6978316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217152" y="6303206"/>
            <a:ext cx="6071616" cy="383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8"/>
              </a:lnSpc>
            </a:pPr>
            <a:r>
              <a:rPr lang="en-US" b="true" sz="2808" spc="-14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UNIFIED AI RECOMMENDATION ENGINE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26080" y="8071176"/>
            <a:ext cx="12417552" cy="128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16"/>
              </a:lnSpc>
            </a:pPr>
            <a:r>
              <a:rPr lang="en-US" b="true" sz="3936" spc="-78">
                <a:solidFill>
                  <a:srgbClr val="F4B300"/>
                </a:solidFill>
                <a:latin typeface="Roboto Bold"/>
                <a:ea typeface="Roboto Bold"/>
                <a:cs typeface="Roboto Bold"/>
                <a:sym typeface="Roboto Bold"/>
              </a:rPr>
              <a:t>“A modular AI decision-support framework with explainable recommendations and scenario simulation.”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98080" y="3824887"/>
            <a:ext cx="859536" cy="269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0"/>
              </a:lnSpc>
            </a:pPr>
            <a:r>
              <a:rPr lang="en-US" b="true" sz="1900" spc="-9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SEARCH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5598" y="0"/>
            <a:ext cx="7842402" cy="10287000"/>
          </a:xfrm>
          <a:custGeom>
            <a:avLst/>
            <a:gdLst/>
            <a:ahLst/>
            <a:cxnLst/>
            <a:rect r="r" b="b" t="t" l="l"/>
            <a:pathLst>
              <a:path h="10287000" w="7842402">
                <a:moveTo>
                  <a:pt x="0" y="0"/>
                </a:moveTo>
                <a:lnTo>
                  <a:pt x="7842402" y="0"/>
                </a:lnTo>
                <a:lnTo>
                  <a:pt x="78424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0080" y="722161"/>
            <a:ext cx="7644384" cy="104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5"/>
              </a:lnSpc>
            </a:pPr>
            <a:r>
              <a:rPr lang="en-US" sz="6779" spc="-33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Research Objectives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142670"/>
            <a:ext cx="10248718" cy="2787657"/>
          </a:xfrm>
          <a:custGeom>
            <a:avLst/>
            <a:gdLst/>
            <a:ahLst/>
            <a:cxnLst/>
            <a:rect r="r" b="b" t="t" l="l"/>
            <a:pathLst>
              <a:path h="2787657" w="10248718">
                <a:moveTo>
                  <a:pt x="0" y="0"/>
                </a:moveTo>
                <a:lnTo>
                  <a:pt x="10248718" y="0"/>
                </a:lnTo>
                <a:lnTo>
                  <a:pt x="10248718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61872" y="3129231"/>
            <a:ext cx="8010144" cy="82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2562" spc="-7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Develop AI-based system for </a:t>
            </a:r>
            <a:r>
              <a:rPr lang="en-US" sz="2562" spc="-76">
                <a:solidFill>
                  <a:srgbClr val="FBB900"/>
                </a:solidFill>
                <a:latin typeface="Roboto"/>
                <a:ea typeface="Roboto"/>
                <a:cs typeface="Roboto"/>
                <a:sym typeface="Roboto"/>
              </a:rPr>
              <a:t>efficient, constraint-compliant container placement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5138034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4400" y="5327018"/>
            <a:ext cx="182880" cy="437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b="true" sz="2723" spc="-81">
                <a:solidFill>
                  <a:srgbClr val="000001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7632" y="5327018"/>
            <a:ext cx="6272784" cy="437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sz="2723" spc="-8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Optimize storage slot and stack selection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5783021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27632" y="6036821"/>
            <a:ext cx="5266944" cy="437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sz="2723" spc="-8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Reduce crane movement distance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330" y="6635716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27632" y="6746624"/>
            <a:ext cx="4901184" cy="437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sz="2723" spc="-8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Minimize reshuffling operations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5330" y="7280704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627632" y="7448993"/>
            <a:ext cx="7936992" cy="863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sz="2723" spc="-8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Enforce operational constraints (stack height, weight, hazard, reefer, reserved areas)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5330" y="8352038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627632" y="8587997"/>
            <a:ext cx="6510528" cy="437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sz="2723" spc="-8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Explain decision confidence and reasoning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45330" y="9204733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27632" y="9297800"/>
            <a:ext cx="5084064" cy="437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sz="2723" spc="-8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Evaluate scenarios via simulation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6036821"/>
            <a:ext cx="201168" cy="437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b="true" sz="2723" spc="-81">
                <a:solidFill>
                  <a:srgbClr val="000001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6746624"/>
            <a:ext cx="201168" cy="437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b="true" sz="2723" spc="-81">
                <a:solidFill>
                  <a:srgbClr val="000001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7456427"/>
            <a:ext cx="201168" cy="437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b="true" sz="2723" spc="-81">
                <a:solidFill>
                  <a:srgbClr val="000001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8587997"/>
            <a:ext cx="201168" cy="437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b="true" sz="2723" spc="-81">
                <a:solidFill>
                  <a:srgbClr val="000001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9297800"/>
            <a:ext cx="201168" cy="437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b="true" sz="2723" spc="-81">
                <a:solidFill>
                  <a:srgbClr val="000001"/>
                </a:solidFill>
                <a:latin typeface="Roboto Bold"/>
                <a:ea typeface="Roboto Bold"/>
                <a:cs typeface="Roboto Bold"/>
                <a:sym typeface="Roboto Bold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8368" y="657357"/>
            <a:ext cx="10607040" cy="86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3"/>
              </a:lnSpc>
            </a:pPr>
            <a:r>
              <a:rPr lang="en-US" sz="6453" spc="-19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Proposed System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8368" y="1599677"/>
            <a:ext cx="7461504" cy="42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7"/>
              </a:lnSpc>
            </a:pPr>
            <a:r>
              <a:rPr lang="en-US" sz="2248" spc="-6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AI-powered cargo terminal management from data to decision.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995365"/>
            <a:ext cx="1750048" cy="3443576"/>
          </a:xfrm>
          <a:custGeom>
            <a:avLst/>
            <a:gdLst/>
            <a:ahLst/>
            <a:cxnLst/>
            <a:rect r="r" b="b" t="t" l="l"/>
            <a:pathLst>
              <a:path h="3443576" w="1750048">
                <a:moveTo>
                  <a:pt x="0" y="0"/>
                </a:moveTo>
                <a:lnTo>
                  <a:pt x="1750048" y="0"/>
                </a:lnTo>
                <a:lnTo>
                  <a:pt x="1750048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8096" y="4737256"/>
            <a:ext cx="1426464" cy="60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b="true" sz="1517" spc="-4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Terminal Planner</a:t>
            </a:r>
          </a:p>
          <a:p>
            <a:pPr algn="ctr">
              <a:lnSpc>
                <a:spcPts val="2428"/>
              </a:lnSpc>
            </a:pPr>
            <a:r>
              <a:rPr lang="en-US" b="true" sz="1517" spc="-4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or Operator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176622" y="4285339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1952" y="2350377"/>
            <a:ext cx="3281340" cy="5159898"/>
          </a:xfrm>
          <a:custGeom>
            <a:avLst/>
            <a:gdLst/>
            <a:ahLst/>
            <a:cxnLst/>
            <a:rect r="r" b="b" t="t" l="l"/>
            <a:pathLst>
              <a:path h="5159898" w="3281340">
                <a:moveTo>
                  <a:pt x="0" y="0"/>
                </a:moveTo>
                <a:lnTo>
                  <a:pt x="3281340" y="0"/>
                </a:lnTo>
                <a:lnTo>
                  <a:pt x="3281340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474720" y="2948411"/>
            <a:ext cx="1975104" cy="28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8"/>
              </a:lnSpc>
            </a:pPr>
            <a:r>
              <a:rPr lang="en-US" b="true" sz="2038" spc="-6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USER INTERFACE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84448" y="3382981"/>
            <a:ext cx="1755648" cy="667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b="true" sz="1706" spc="-51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React + TypeScript</a:t>
            </a:r>
          </a:p>
          <a:p>
            <a:pPr algn="ctr">
              <a:lnSpc>
                <a:spcPts val="2730"/>
              </a:lnSpc>
            </a:pPr>
            <a:r>
              <a:rPr lang="en-US" b="true" sz="1706" spc="-51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+ Tailwind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68496" y="4368525"/>
            <a:ext cx="987552" cy="320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b="true" sz="1668" spc="-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75888" y="5109189"/>
            <a:ext cx="1554480" cy="320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b="true" sz="1668" spc="-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Slot Visualization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785616" y="5825726"/>
            <a:ext cx="1353312" cy="327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0"/>
              </a:lnSpc>
            </a:pPr>
            <a:r>
              <a:rPr lang="en-US" b="true" sz="1744" spc="-5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Scenario Input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873598" y="4285339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529866" y="2350377"/>
            <a:ext cx="3051646" cy="5159898"/>
          </a:xfrm>
          <a:custGeom>
            <a:avLst/>
            <a:gdLst/>
            <a:ahLst/>
            <a:cxnLst/>
            <a:rect r="r" b="b" t="t" l="l"/>
            <a:pathLst>
              <a:path h="5159898" w="3051646">
                <a:moveTo>
                  <a:pt x="0" y="0"/>
                </a:moveTo>
                <a:lnTo>
                  <a:pt x="3051646" y="0"/>
                </a:lnTo>
                <a:lnTo>
                  <a:pt x="3051646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931152" y="2967170"/>
            <a:ext cx="2176272" cy="26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1"/>
              </a:lnSpc>
            </a:pPr>
            <a:r>
              <a:rPr lang="en-US" b="true" sz="2061" spc="-6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BACKEND SERVICE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62672" y="3353099"/>
            <a:ext cx="768096" cy="346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b="true" sz="1781" spc="-5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FastAPI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51776" y="6509940"/>
            <a:ext cx="1389888" cy="328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b="true" sz="1706" spc="-5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Validation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831464" y="6854356"/>
            <a:ext cx="448450" cy="1289974"/>
          </a:xfrm>
          <a:custGeom>
            <a:avLst/>
            <a:gdLst/>
            <a:ahLst/>
            <a:cxnLst/>
            <a:rect r="r" b="b" t="t" l="l"/>
            <a:pathLst>
              <a:path h="1289974" w="448450">
                <a:moveTo>
                  <a:pt x="0" y="0"/>
                </a:moveTo>
                <a:lnTo>
                  <a:pt x="448450" y="0"/>
                </a:lnTo>
                <a:lnTo>
                  <a:pt x="44845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351818" y="3214004"/>
            <a:ext cx="1323474" cy="3432644"/>
          </a:xfrm>
          <a:custGeom>
            <a:avLst/>
            <a:gdLst/>
            <a:ahLst/>
            <a:cxnLst/>
            <a:rect r="r" b="b" t="t" l="l"/>
            <a:pathLst>
              <a:path h="3432644" w="1323474">
                <a:moveTo>
                  <a:pt x="0" y="0"/>
                </a:moveTo>
                <a:lnTo>
                  <a:pt x="1323474" y="0"/>
                </a:lnTo>
                <a:lnTo>
                  <a:pt x="1323474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445598" y="2350377"/>
            <a:ext cx="3489158" cy="2372241"/>
          </a:xfrm>
          <a:custGeom>
            <a:avLst/>
            <a:gdLst/>
            <a:ahLst/>
            <a:cxnLst/>
            <a:rect r="r" b="b" t="t" l="l"/>
            <a:pathLst>
              <a:path h="2372241" w="3489158">
                <a:moveTo>
                  <a:pt x="0" y="0"/>
                </a:moveTo>
                <a:lnTo>
                  <a:pt x="3489158" y="0"/>
                </a:lnTo>
                <a:lnTo>
                  <a:pt x="348915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649456" y="2910160"/>
            <a:ext cx="1207008" cy="287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0"/>
              </a:lnSpc>
            </a:pPr>
            <a:r>
              <a:rPr lang="en-US" b="true" sz="2130" spc="-63">
                <a:solidFill>
                  <a:srgbClr val="F4B300"/>
                </a:solidFill>
                <a:latin typeface="Roboto Bold"/>
                <a:ea typeface="Roboto Bold"/>
                <a:cs typeface="Roboto Bold"/>
                <a:sym typeface="Roboto Bold"/>
              </a:rPr>
              <a:t>AI ENGINE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881360" y="3463559"/>
            <a:ext cx="2779776" cy="659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b="true" sz="1668" spc="-50">
                <a:solidFill>
                  <a:srgbClr val="F4B300"/>
                </a:solidFill>
                <a:latin typeface="Roboto Bold"/>
                <a:ea typeface="Roboto Bold"/>
                <a:cs typeface="Roboto Bold"/>
                <a:sym typeface="Roboto Bold"/>
              </a:rPr>
              <a:t>BFS |DFS | UCS | A*</a:t>
            </a:r>
          </a:p>
          <a:p>
            <a:pPr algn="ctr">
              <a:lnSpc>
                <a:spcPts val="2669"/>
              </a:lnSpc>
            </a:pPr>
            <a:r>
              <a:rPr lang="en-US" b="true" sz="1668" spc="-50">
                <a:solidFill>
                  <a:srgbClr val="F4B300"/>
                </a:solidFill>
                <a:latin typeface="Roboto Bold"/>
                <a:ea typeface="Roboto Bold"/>
                <a:cs typeface="Roboto Bold"/>
                <a:sym typeface="Roboto Bold"/>
              </a:rPr>
              <a:t>CSP | Optimization | Simulation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1965952" y="4493047"/>
            <a:ext cx="448450" cy="874559"/>
          </a:xfrm>
          <a:custGeom>
            <a:avLst/>
            <a:gdLst/>
            <a:ahLst/>
            <a:cxnLst/>
            <a:rect r="r" b="b" t="t" l="l"/>
            <a:pathLst>
              <a:path h="874559" w="448450">
                <a:moveTo>
                  <a:pt x="0" y="0"/>
                </a:moveTo>
                <a:lnTo>
                  <a:pt x="448450" y="0"/>
                </a:lnTo>
                <a:lnTo>
                  <a:pt x="44845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445598" y="5356674"/>
            <a:ext cx="3489158" cy="2153601"/>
          </a:xfrm>
          <a:custGeom>
            <a:avLst/>
            <a:gdLst/>
            <a:ahLst/>
            <a:cxnLst/>
            <a:rect r="r" b="b" t="t" l="l"/>
            <a:pathLst>
              <a:path h="2153601" w="3489158">
                <a:moveTo>
                  <a:pt x="0" y="0"/>
                </a:moveTo>
                <a:lnTo>
                  <a:pt x="3489158" y="0"/>
                </a:lnTo>
                <a:lnTo>
                  <a:pt x="348915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283696" y="6283915"/>
            <a:ext cx="1901952" cy="667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b="true" sz="1706" spc="-51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SQLite | PostgreSQL| SQLAlchemy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1965952" y="7280704"/>
            <a:ext cx="448450" cy="863627"/>
          </a:xfrm>
          <a:custGeom>
            <a:avLst/>
            <a:gdLst/>
            <a:ahLst/>
            <a:cxnLst/>
            <a:rect r="r" b="b" t="t" l="l"/>
            <a:pathLst>
              <a:path h="863627" w="448450">
                <a:moveTo>
                  <a:pt x="0" y="0"/>
                </a:moveTo>
                <a:lnTo>
                  <a:pt x="448450" y="0"/>
                </a:lnTo>
                <a:lnTo>
                  <a:pt x="44845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716000" y="3214004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580086" y="2350377"/>
            <a:ext cx="3281340" cy="2579949"/>
          </a:xfrm>
          <a:custGeom>
            <a:avLst/>
            <a:gdLst/>
            <a:ahLst/>
            <a:cxnLst/>
            <a:rect r="r" b="b" t="t" l="l"/>
            <a:pathLst>
              <a:path h="2579949" w="3281340">
                <a:moveTo>
                  <a:pt x="0" y="0"/>
                </a:moveTo>
                <a:lnTo>
                  <a:pt x="3281340" y="0"/>
                </a:lnTo>
                <a:lnTo>
                  <a:pt x="328134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5014448" y="2926022"/>
            <a:ext cx="2304288" cy="26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1"/>
              </a:lnSpc>
            </a:pPr>
            <a:r>
              <a:rPr lang="en-US" b="true" sz="2061" spc="-61">
                <a:solidFill>
                  <a:srgbClr val="F4B300"/>
                </a:solidFill>
                <a:latin typeface="Roboto Bold"/>
                <a:ea typeface="Roboto Bold"/>
                <a:cs typeface="Roboto Bold"/>
                <a:sym typeface="Roboto Bold"/>
              </a:rPr>
              <a:t>RECOMMENDATION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398496" y="3402127"/>
            <a:ext cx="1572768" cy="99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b="true" sz="1668" spc="-50">
                <a:solidFill>
                  <a:srgbClr val="F4B300"/>
                </a:solidFill>
                <a:latin typeface="Roboto Bold"/>
                <a:ea typeface="Roboto Bold"/>
                <a:cs typeface="Roboto Bold"/>
                <a:sym typeface="Roboto Bold"/>
              </a:rPr>
              <a:t>Optimal Slot Plan</a:t>
            </a:r>
          </a:p>
          <a:p>
            <a:pPr algn="ctr">
              <a:lnSpc>
                <a:spcPts val="2669"/>
              </a:lnSpc>
            </a:pPr>
            <a:r>
              <a:rPr lang="en-US" b="true" sz="1668" spc="-50">
                <a:solidFill>
                  <a:srgbClr val="F4B300"/>
                </a:solidFill>
                <a:latin typeface="Roboto Bold"/>
                <a:ea typeface="Roboto Bold"/>
                <a:cs typeface="Roboto Bold"/>
                <a:sym typeface="Roboto Bold"/>
              </a:rPr>
              <a:t>Rationale</a:t>
            </a:r>
          </a:p>
          <a:p>
            <a:pPr algn="ctr">
              <a:lnSpc>
                <a:spcPts val="2669"/>
              </a:lnSpc>
            </a:pPr>
            <a:r>
              <a:rPr lang="en-US" b="true" sz="1668" spc="-50">
                <a:solidFill>
                  <a:srgbClr val="F4B300"/>
                </a:solidFill>
                <a:latin typeface="Roboto Bold"/>
                <a:ea typeface="Roboto Bold"/>
                <a:cs typeface="Roboto Bold"/>
                <a:sym typeface="Roboto Bold"/>
              </a:rPr>
              <a:t>Impact Summary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5892622" y="4711687"/>
            <a:ext cx="437512" cy="655919"/>
          </a:xfrm>
          <a:custGeom>
            <a:avLst/>
            <a:gdLst/>
            <a:ahLst/>
            <a:cxnLst/>
            <a:rect r="r" b="b" t="t" l="l"/>
            <a:pathLst>
              <a:path h="655919" w="437512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4580086" y="5356674"/>
            <a:ext cx="3281340" cy="2579949"/>
          </a:xfrm>
          <a:custGeom>
            <a:avLst/>
            <a:gdLst/>
            <a:ahLst/>
            <a:cxnLst/>
            <a:rect r="r" b="b" t="t" l="l"/>
            <a:pathLst>
              <a:path h="2579949" w="3281340">
                <a:moveTo>
                  <a:pt x="0" y="0"/>
                </a:moveTo>
                <a:lnTo>
                  <a:pt x="3281340" y="0"/>
                </a:lnTo>
                <a:lnTo>
                  <a:pt x="3281340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5197328" y="5765234"/>
            <a:ext cx="1975104" cy="26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1"/>
              </a:lnSpc>
            </a:pPr>
            <a:r>
              <a:rPr lang="en-US" b="true" sz="2061" spc="-6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USER APPROVAL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361920" y="6294492"/>
            <a:ext cx="1645920" cy="100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b="true" sz="1706" spc="-5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Review Plan</a:t>
            </a:r>
          </a:p>
          <a:p>
            <a:pPr algn="ctr">
              <a:lnSpc>
                <a:spcPts val="2730"/>
              </a:lnSpc>
            </a:pPr>
            <a:r>
              <a:rPr lang="en-US" b="true" sz="1706" spc="-5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Approve or Adjust</a:t>
            </a:r>
          </a:p>
          <a:p>
            <a:pPr algn="ctr">
              <a:lnSpc>
                <a:spcPts val="2730"/>
              </a:lnSpc>
            </a:pPr>
            <a:r>
              <a:rPr lang="en-US" b="true" sz="1706" spc="-5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Execute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13716000" y="7707051"/>
            <a:ext cx="2614134" cy="1300906"/>
          </a:xfrm>
          <a:custGeom>
            <a:avLst/>
            <a:gdLst/>
            <a:ahLst/>
            <a:cxnLst/>
            <a:rect r="r" b="b" t="t" l="l"/>
            <a:pathLst>
              <a:path h="1300906" w="2614134">
                <a:moveTo>
                  <a:pt x="0" y="0"/>
                </a:moveTo>
                <a:lnTo>
                  <a:pt x="2614134" y="0"/>
                </a:lnTo>
                <a:lnTo>
                  <a:pt x="261413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2821952" y="7925691"/>
            <a:ext cx="11112804" cy="1508614"/>
          </a:xfrm>
          <a:custGeom>
            <a:avLst/>
            <a:gdLst/>
            <a:ahLst/>
            <a:cxnLst/>
            <a:rect r="r" b="b" t="t" l="l"/>
            <a:pathLst>
              <a:path h="1508614" w="11112804">
                <a:moveTo>
                  <a:pt x="0" y="0"/>
                </a:moveTo>
                <a:lnTo>
                  <a:pt x="11112804" y="0"/>
                </a:lnTo>
                <a:lnTo>
                  <a:pt x="1111280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6967728" y="8390234"/>
            <a:ext cx="2706624" cy="28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8"/>
              </a:lnSpc>
            </a:pPr>
            <a:r>
              <a:rPr lang="en-US" b="true" sz="2038" spc="-6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ANALYTICS &amp; REPORTS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888736" y="8752506"/>
            <a:ext cx="5266944" cy="328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b="true" sz="1706" spc="-51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KPIs | Performance Trends | Operational Insights | Charts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645330" y="9642013"/>
            <a:ext cx="885962" cy="218640"/>
          </a:xfrm>
          <a:custGeom>
            <a:avLst/>
            <a:gdLst/>
            <a:ahLst/>
            <a:cxnLst/>
            <a:rect r="r" b="b" t="t" l="l"/>
            <a:pathLst>
              <a:path h="218640" w="885962">
                <a:moveTo>
                  <a:pt x="0" y="0"/>
                </a:moveTo>
                <a:lnTo>
                  <a:pt x="885962" y="0"/>
                </a:lnTo>
                <a:lnTo>
                  <a:pt x="885962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645920" y="9599506"/>
            <a:ext cx="932688" cy="26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6"/>
              </a:lnSpc>
            </a:pPr>
            <a:r>
              <a:rPr lang="en-US" b="true" sz="1391" spc="-4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FLOW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2821952" y="9642013"/>
            <a:ext cx="1104718" cy="218640"/>
          </a:xfrm>
          <a:custGeom>
            <a:avLst/>
            <a:gdLst/>
            <a:ahLst/>
            <a:cxnLst/>
            <a:rect r="r" b="b" t="t" l="l"/>
            <a:pathLst>
              <a:path h="218640" w="1104718">
                <a:moveTo>
                  <a:pt x="0" y="0"/>
                </a:moveTo>
                <a:lnTo>
                  <a:pt x="1104718" y="0"/>
                </a:lnTo>
                <a:lnTo>
                  <a:pt x="110471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4041648" y="9604180"/>
            <a:ext cx="1261872" cy="269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5"/>
              </a:lnSpc>
            </a:pPr>
            <a:r>
              <a:rPr lang="en-US" b="true" sz="1415" spc="-4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DECISION FLOW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649456" y="5746475"/>
            <a:ext cx="1261872" cy="28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8"/>
              </a:lnSpc>
            </a:pPr>
            <a:r>
              <a:rPr lang="en-US" b="true" sz="2038" spc="-6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DATABASE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88720" y="4141993"/>
            <a:ext cx="603504" cy="28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5"/>
              </a:lnSpc>
            </a:pPr>
            <a:r>
              <a:rPr lang="en-US" b="true" sz="2015" spc="-6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USER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639312" y="6549369"/>
            <a:ext cx="1609344" cy="320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9"/>
              </a:lnSpc>
            </a:pPr>
            <a:r>
              <a:rPr lang="en-US" b="true" sz="1668" spc="-5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Results &amp; Insights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351776" y="4298235"/>
            <a:ext cx="1371600" cy="328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b="true" sz="1706" spc="-5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Authentication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351776" y="5028612"/>
            <a:ext cx="1389888" cy="328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b="true" sz="1706" spc="-5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Business Logic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571232" y="5800137"/>
            <a:ext cx="987552" cy="328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b="true" sz="1706" spc="-5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REST APIs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0080" y="829163"/>
            <a:ext cx="6894576" cy="94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3"/>
              </a:lnSpc>
            </a:pPr>
            <a:r>
              <a:rPr lang="en-US" sz="7123" spc="-14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Algorithms Used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1924030"/>
            <a:ext cx="4364182" cy="4514911"/>
          </a:xfrm>
          <a:custGeom>
            <a:avLst/>
            <a:gdLst/>
            <a:ahLst/>
            <a:cxnLst/>
            <a:rect r="r" b="b" t="t" l="l"/>
            <a:pathLst>
              <a:path h="4514911" w="4364182">
                <a:moveTo>
                  <a:pt x="0" y="0"/>
                </a:moveTo>
                <a:lnTo>
                  <a:pt x="4364182" y="0"/>
                </a:lnTo>
                <a:lnTo>
                  <a:pt x="4364182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26464" y="2428412"/>
            <a:ext cx="2322576" cy="884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b="true" sz="2893" spc="-5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SEARCH ALGORITHMS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82842" y="3421712"/>
            <a:ext cx="3062584" cy="229572"/>
          </a:xfrm>
          <a:custGeom>
            <a:avLst/>
            <a:gdLst/>
            <a:ahLst/>
            <a:cxnLst/>
            <a:rect r="r" b="b" t="t" l="l"/>
            <a:pathLst>
              <a:path h="229572" w="3062584">
                <a:moveTo>
                  <a:pt x="0" y="0"/>
                </a:moveTo>
                <a:lnTo>
                  <a:pt x="3062584" y="0"/>
                </a:lnTo>
                <a:lnTo>
                  <a:pt x="306258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779818" y="1924030"/>
            <a:ext cx="4156364" cy="4514911"/>
          </a:xfrm>
          <a:custGeom>
            <a:avLst/>
            <a:gdLst/>
            <a:ahLst/>
            <a:cxnLst/>
            <a:rect r="r" b="b" t="t" l="l"/>
            <a:pathLst>
              <a:path h="4514911" w="4156364">
                <a:moveTo>
                  <a:pt x="0" y="0"/>
                </a:moveTo>
                <a:lnTo>
                  <a:pt x="4156364" y="0"/>
                </a:lnTo>
                <a:lnTo>
                  <a:pt x="4156364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705856" y="2673737"/>
            <a:ext cx="2523744" cy="414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b="true" sz="2723" spc="-5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OPTIMIZATION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5436086" y="3421712"/>
            <a:ext cx="3062584" cy="229572"/>
          </a:xfrm>
          <a:custGeom>
            <a:avLst/>
            <a:gdLst/>
            <a:ahLst/>
            <a:cxnLst/>
            <a:rect r="r" b="b" t="t" l="l"/>
            <a:pathLst>
              <a:path h="229572" w="3062584">
                <a:moveTo>
                  <a:pt x="0" y="0"/>
                </a:moveTo>
                <a:lnTo>
                  <a:pt x="3062584" y="0"/>
                </a:lnTo>
                <a:lnTo>
                  <a:pt x="306258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1924030"/>
            <a:ext cx="4364182" cy="4514911"/>
          </a:xfrm>
          <a:custGeom>
            <a:avLst/>
            <a:gdLst/>
            <a:ahLst/>
            <a:cxnLst/>
            <a:rect r="r" b="b" t="t" l="l"/>
            <a:pathLst>
              <a:path h="4514911" w="4364182">
                <a:moveTo>
                  <a:pt x="0" y="0"/>
                </a:moveTo>
                <a:lnTo>
                  <a:pt x="4364182" y="0"/>
                </a:lnTo>
                <a:lnTo>
                  <a:pt x="4364182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003536" y="2428412"/>
            <a:ext cx="2615184" cy="884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b="true" sz="2893" spc="-5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CONSTRAINT &amp; REASONING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789330" y="3421712"/>
            <a:ext cx="3281340" cy="229572"/>
          </a:xfrm>
          <a:custGeom>
            <a:avLst/>
            <a:gdLst/>
            <a:ahLst/>
            <a:cxnLst/>
            <a:rect r="r" b="b" t="t" l="l"/>
            <a:pathLst>
              <a:path h="229572" w="3281340">
                <a:moveTo>
                  <a:pt x="0" y="0"/>
                </a:moveTo>
                <a:lnTo>
                  <a:pt x="3281340" y="0"/>
                </a:lnTo>
                <a:lnTo>
                  <a:pt x="328134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716000" y="1924030"/>
            <a:ext cx="3926670" cy="4514911"/>
          </a:xfrm>
          <a:custGeom>
            <a:avLst/>
            <a:gdLst/>
            <a:ahLst/>
            <a:cxnLst/>
            <a:rect r="r" b="b" t="t" l="l"/>
            <a:pathLst>
              <a:path h="4514911" w="3926670">
                <a:moveTo>
                  <a:pt x="0" y="0"/>
                </a:moveTo>
                <a:lnTo>
                  <a:pt x="3926670" y="0"/>
                </a:lnTo>
                <a:lnTo>
                  <a:pt x="3926670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593824" y="2673737"/>
            <a:ext cx="2157984" cy="414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8"/>
              </a:lnSpc>
            </a:pPr>
            <a:r>
              <a:rPr lang="en-US" b="true" sz="2723" spc="-5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SIMULATION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142574" y="3421712"/>
            <a:ext cx="3062584" cy="229572"/>
          </a:xfrm>
          <a:custGeom>
            <a:avLst/>
            <a:gdLst/>
            <a:ahLst/>
            <a:cxnLst/>
            <a:rect r="r" b="b" t="t" l="l"/>
            <a:pathLst>
              <a:path h="229572" w="3062584">
                <a:moveTo>
                  <a:pt x="0" y="0"/>
                </a:moveTo>
                <a:lnTo>
                  <a:pt x="3062584" y="0"/>
                </a:lnTo>
                <a:lnTo>
                  <a:pt x="306258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26574" y="6635716"/>
            <a:ext cx="2625072" cy="1300906"/>
          </a:xfrm>
          <a:custGeom>
            <a:avLst/>
            <a:gdLst/>
            <a:ahLst/>
            <a:cxnLst/>
            <a:rect r="r" b="b" t="t" l="l"/>
            <a:pathLst>
              <a:path h="1300906" w="2625072">
                <a:moveTo>
                  <a:pt x="0" y="0"/>
                </a:moveTo>
                <a:lnTo>
                  <a:pt x="2625072" y="0"/>
                </a:lnTo>
                <a:lnTo>
                  <a:pt x="262507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42416" y="6927189"/>
            <a:ext cx="1481328" cy="631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b="true" sz="2023" spc="-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CANDIDATE SLOTS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821952" y="706206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259464" y="6635716"/>
            <a:ext cx="2625072" cy="1300906"/>
          </a:xfrm>
          <a:custGeom>
            <a:avLst/>
            <a:gdLst/>
            <a:ahLst/>
            <a:cxnLst/>
            <a:rect r="r" b="b" t="t" l="l"/>
            <a:pathLst>
              <a:path h="1300906" w="2625072">
                <a:moveTo>
                  <a:pt x="0" y="0"/>
                </a:moveTo>
                <a:lnTo>
                  <a:pt x="2625072" y="0"/>
                </a:lnTo>
                <a:lnTo>
                  <a:pt x="262507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840480" y="6927189"/>
            <a:ext cx="1645920" cy="631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b="true" sz="2023" spc="-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CONSTRAINT FILTERING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654842" y="706206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311110" y="6635716"/>
            <a:ext cx="2625072" cy="1300906"/>
          </a:xfrm>
          <a:custGeom>
            <a:avLst/>
            <a:gdLst/>
            <a:ahLst/>
            <a:cxnLst/>
            <a:rect r="r" b="b" t="t" l="l"/>
            <a:pathLst>
              <a:path h="1300906" w="2625072">
                <a:moveTo>
                  <a:pt x="0" y="0"/>
                </a:moveTo>
                <a:lnTo>
                  <a:pt x="2625072" y="0"/>
                </a:lnTo>
                <a:lnTo>
                  <a:pt x="262507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077456" y="7089440"/>
            <a:ext cx="1024128" cy="32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b="true" sz="2142" spc="-4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SEARCH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706488" y="7062064"/>
            <a:ext cx="656268" cy="448211"/>
          </a:xfrm>
          <a:custGeom>
            <a:avLst/>
            <a:gdLst/>
            <a:ahLst/>
            <a:cxnLst/>
            <a:rect r="r" b="b" t="t" l="l"/>
            <a:pathLst>
              <a:path h="448211" w="656268">
                <a:moveTo>
                  <a:pt x="0" y="0"/>
                </a:moveTo>
                <a:lnTo>
                  <a:pt x="656268" y="0"/>
                </a:lnTo>
                <a:lnTo>
                  <a:pt x="656268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351818" y="6635716"/>
            <a:ext cx="2406316" cy="1300906"/>
          </a:xfrm>
          <a:custGeom>
            <a:avLst/>
            <a:gdLst/>
            <a:ahLst/>
            <a:cxnLst/>
            <a:rect r="r" b="b" t="t" l="l"/>
            <a:pathLst>
              <a:path h="1300906" w="2406316">
                <a:moveTo>
                  <a:pt x="0" y="0"/>
                </a:moveTo>
                <a:lnTo>
                  <a:pt x="2406316" y="0"/>
                </a:lnTo>
                <a:lnTo>
                  <a:pt x="240631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637776" y="7089440"/>
            <a:ext cx="1828800" cy="32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1"/>
              </a:lnSpc>
            </a:pPr>
            <a:r>
              <a:rPr lang="en-US" b="true" sz="2118" spc="-4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OPTIMIZATION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1528440" y="706206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184708" y="6635716"/>
            <a:ext cx="2625072" cy="1300906"/>
          </a:xfrm>
          <a:custGeom>
            <a:avLst/>
            <a:gdLst/>
            <a:ahLst/>
            <a:cxnLst/>
            <a:rect r="r" b="b" t="t" l="l"/>
            <a:pathLst>
              <a:path h="1300906" w="2625072">
                <a:moveTo>
                  <a:pt x="0" y="0"/>
                </a:moveTo>
                <a:lnTo>
                  <a:pt x="2625072" y="0"/>
                </a:lnTo>
                <a:lnTo>
                  <a:pt x="262507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691872" y="6927189"/>
            <a:ext cx="1517904" cy="631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8"/>
              </a:lnSpc>
            </a:pPr>
            <a:r>
              <a:rPr lang="en-US" b="true" sz="2023" spc="-4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COST EVALUATION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4580086" y="706206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017598" y="6635716"/>
            <a:ext cx="2625072" cy="1300906"/>
          </a:xfrm>
          <a:custGeom>
            <a:avLst/>
            <a:gdLst/>
            <a:ahLst/>
            <a:cxnLst/>
            <a:rect r="r" b="b" t="t" l="l"/>
            <a:pathLst>
              <a:path h="1300906" w="2625072">
                <a:moveTo>
                  <a:pt x="0" y="0"/>
                </a:moveTo>
                <a:lnTo>
                  <a:pt x="2625072" y="0"/>
                </a:lnTo>
                <a:lnTo>
                  <a:pt x="262507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5270480" y="7090730"/>
            <a:ext cx="2231136" cy="28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8"/>
              </a:lnSpc>
            </a:pPr>
            <a:r>
              <a:rPr lang="en-US" b="true" sz="1857" spc="-37">
                <a:solidFill>
                  <a:srgbClr val="001532"/>
                </a:solidFill>
                <a:latin typeface="Roboto Bold"/>
                <a:ea typeface="Roboto Bold"/>
                <a:cs typeface="Roboto Bold"/>
                <a:sym typeface="Roboto Bold"/>
              </a:rPr>
              <a:t>RECOMMENDATION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0160" y="3921044"/>
            <a:ext cx="475488" cy="32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142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BFS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0160" y="4445681"/>
            <a:ext cx="475488" cy="32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142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DFS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0160" y="4955972"/>
            <a:ext cx="475488" cy="32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2021" spc="-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UCS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80160" y="5474381"/>
            <a:ext cx="292608" cy="32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142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A*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541264" y="3921044"/>
            <a:ext cx="1481328" cy="32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142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Hill Climbing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541264" y="4445681"/>
            <a:ext cx="2414016" cy="32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142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Simulated Annealing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820656" y="3916985"/>
            <a:ext cx="475488" cy="32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sz="2045" spc="-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CSP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820656" y="4445681"/>
            <a:ext cx="2670048" cy="32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118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Constraint Propagation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820656" y="4960031"/>
            <a:ext cx="3218688" cy="32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2"/>
              </a:lnSpc>
            </a:pPr>
            <a:r>
              <a:rPr lang="en-US" sz="2093" spc="-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Forward/Backward Chaining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820656" y="5474381"/>
            <a:ext cx="1371600" cy="32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142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Rule Engine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246352" y="3921044"/>
            <a:ext cx="731520" cy="32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118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Arrival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246352" y="4460672"/>
            <a:ext cx="969264" cy="30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3"/>
              </a:lnSpc>
            </a:pPr>
            <a:r>
              <a:rPr lang="en-US" sz="2069" spc="-4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Retrieval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246352" y="4960031"/>
            <a:ext cx="2322576" cy="32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142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Yard Rearangement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246352" y="5474381"/>
            <a:ext cx="2596896" cy="326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1"/>
              </a:lnSpc>
            </a:pPr>
            <a:r>
              <a:rPr lang="en-US" sz="2118" spc="-4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Algorithm Comparison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6656" y="728467"/>
            <a:ext cx="6181344" cy="940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7"/>
              </a:lnSpc>
            </a:pPr>
            <a:r>
              <a:rPr lang="en-US" sz="7037" spc="-21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Implementation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1924030"/>
            <a:ext cx="8290852" cy="1508614"/>
          </a:xfrm>
          <a:custGeom>
            <a:avLst/>
            <a:gdLst/>
            <a:ahLst/>
            <a:cxnLst/>
            <a:rect r="r" b="b" t="t" l="l"/>
            <a:pathLst>
              <a:path h="1508614" w="8290852">
                <a:moveTo>
                  <a:pt x="0" y="0"/>
                </a:moveTo>
                <a:lnTo>
                  <a:pt x="8290852" y="0"/>
                </a:lnTo>
                <a:lnTo>
                  <a:pt x="829085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60704" y="2491956"/>
            <a:ext cx="1920240" cy="412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b="true" sz="3070" spc="-92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FRONTEND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30752" y="2149401"/>
            <a:ext cx="3364992" cy="1114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spc="-6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React 19, TypeScript, Vite Tailwind CSS, React Router Axios, Chart.js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3421712"/>
            <a:ext cx="8290852" cy="1727254"/>
          </a:xfrm>
          <a:custGeom>
            <a:avLst/>
            <a:gdLst/>
            <a:ahLst/>
            <a:cxnLst/>
            <a:rect r="r" b="b" t="t" l="l"/>
            <a:pathLst>
              <a:path h="1727254" w="8290852">
                <a:moveTo>
                  <a:pt x="0" y="0"/>
                </a:moveTo>
                <a:lnTo>
                  <a:pt x="8290852" y="0"/>
                </a:lnTo>
                <a:lnTo>
                  <a:pt x="829085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52144" y="4040076"/>
            <a:ext cx="1719072" cy="43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1"/>
              </a:lnSpc>
            </a:pPr>
            <a:r>
              <a:rPr lang="en-US" b="true" sz="3111" spc="-93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BACKEND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30752" y="3719574"/>
            <a:ext cx="3090672" cy="1091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248" spc="-6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Python, FastAPI, Uunicorn SQLAlchemy, Pydantic Alembic, JWT Auth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4919394"/>
            <a:ext cx="8290852" cy="1727254"/>
          </a:xfrm>
          <a:custGeom>
            <a:avLst/>
            <a:gdLst/>
            <a:ahLst/>
            <a:cxnLst/>
            <a:rect r="r" b="b" t="t" l="l"/>
            <a:pathLst>
              <a:path h="1727254" w="8290852">
                <a:moveTo>
                  <a:pt x="0" y="0"/>
                </a:moveTo>
                <a:lnTo>
                  <a:pt x="8290852" y="0"/>
                </a:lnTo>
                <a:lnTo>
                  <a:pt x="829085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52144" y="5608917"/>
            <a:ext cx="1755648" cy="412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b="true" sz="3070" spc="-92">
                <a:solidFill>
                  <a:srgbClr val="F4B324"/>
                </a:solidFill>
                <a:latin typeface="Roboto Bold"/>
                <a:ea typeface="Roboto Bold"/>
                <a:cs typeface="Roboto Bold"/>
                <a:sym typeface="Roboto Bold"/>
              </a:rPr>
              <a:t>AI ENGINE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30752" y="5536416"/>
            <a:ext cx="2999232" cy="57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</a:pPr>
            <a:r>
              <a:rPr lang="en-US" sz="1788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Custom search, NumPy NetworkX, OR-Tools scikit-learn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5330" y="6428009"/>
            <a:ext cx="8290852" cy="1716322"/>
          </a:xfrm>
          <a:custGeom>
            <a:avLst/>
            <a:gdLst/>
            <a:ahLst/>
            <a:cxnLst/>
            <a:rect r="r" b="b" t="t" l="l"/>
            <a:pathLst>
              <a:path h="1716322" w="8290852">
                <a:moveTo>
                  <a:pt x="0" y="0"/>
                </a:moveTo>
                <a:lnTo>
                  <a:pt x="8290852" y="0"/>
                </a:lnTo>
                <a:lnTo>
                  <a:pt x="8290852" y="1716321"/>
                </a:lnTo>
                <a:lnTo>
                  <a:pt x="0" y="17163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0704" y="7151967"/>
            <a:ext cx="1901952" cy="412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b="true" sz="3070" spc="-92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DATABASE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30752" y="6959251"/>
            <a:ext cx="3090672" cy="742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299" spc="-6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SQLite (local)</a:t>
            </a:r>
          </a:p>
          <a:p>
            <a:pPr algn="l">
              <a:lnSpc>
                <a:spcPts val="2989"/>
              </a:lnSpc>
            </a:pPr>
            <a:r>
              <a:rPr lang="en-US" sz="2299" spc="-6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PostgreSQL (production)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226842" y="426348"/>
            <a:ext cx="7197072" cy="1289974"/>
          </a:xfrm>
          <a:custGeom>
            <a:avLst/>
            <a:gdLst/>
            <a:ahLst/>
            <a:cxnLst/>
            <a:rect r="r" b="b" t="t" l="l"/>
            <a:pathLst>
              <a:path h="1289974" w="7197072">
                <a:moveTo>
                  <a:pt x="0" y="0"/>
                </a:moveTo>
                <a:lnTo>
                  <a:pt x="7197072" y="0"/>
                </a:lnTo>
                <a:lnTo>
                  <a:pt x="719707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789920" y="866261"/>
            <a:ext cx="475488" cy="46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b="true" sz="3401" spc="-102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33504" y="890599"/>
            <a:ext cx="2377440" cy="37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-6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AUTHENTICATION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226842" y="1497682"/>
            <a:ext cx="7197072" cy="1289974"/>
          </a:xfrm>
          <a:custGeom>
            <a:avLst/>
            <a:gdLst/>
            <a:ahLst/>
            <a:cxnLst/>
            <a:rect r="r" b="b" t="t" l="l"/>
            <a:pathLst>
              <a:path h="1289974" w="7197072">
                <a:moveTo>
                  <a:pt x="0" y="0"/>
                </a:moveTo>
                <a:lnTo>
                  <a:pt x="7197072" y="0"/>
                </a:lnTo>
                <a:lnTo>
                  <a:pt x="7197072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789920" y="1946396"/>
            <a:ext cx="475488" cy="46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b="true" sz="3401" spc="-102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33504" y="1970734"/>
            <a:ext cx="3602736" cy="37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-6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CONTAINER MANAGEMENT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226842" y="2776725"/>
            <a:ext cx="7197072" cy="1082267"/>
          </a:xfrm>
          <a:custGeom>
            <a:avLst/>
            <a:gdLst/>
            <a:ahLst/>
            <a:cxnLst/>
            <a:rect r="r" b="b" t="t" l="l"/>
            <a:pathLst>
              <a:path h="1082267" w="7197072">
                <a:moveTo>
                  <a:pt x="0" y="0"/>
                </a:moveTo>
                <a:lnTo>
                  <a:pt x="7197072" y="0"/>
                </a:lnTo>
                <a:lnTo>
                  <a:pt x="719707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789920" y="3036818"/>
            <a:ext cx="475488" cy="46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b="true" sz="3401" spc="-102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33504" y="3061156"/>
            <a:ext cx="2724912" cy="37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-6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SHIPMENT &amp; VESSEL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226842" y="3848060"/>
            <a:ext cx="7197072" cy="1082267"/>
          </a:xfrm>
          <a:custGeom>
            <a:avLst/>
            <a:gdLst/>
            <a:ahLst/>
            <a:cxnLst/>
            <a:rect r="r" b="b" t="t" l="l"/>
            <a:pathLst>
              <a:path h="1082267" w="7197072">
                <a:moveTo>
                  <a:pt x="0" y="0"/>
                </a:moveTo>
                <a:lnTo>
                  <a:pt x="7197072" y="0"/>
                </a:lnTo>
                <a:lnTo>
                  <a:pt x="719707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753344" y="4127240"/>
            <a:ext cx="566928" cy="46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b="true" sz="3401" spc="-102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33504" y="4151578"/>
            <a:ext cx="2761488" cy="37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-6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YARD MANAGEMENT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226842" y="4919394"/>
            <a:ext cx="7197072" cy="1082267"/>
          </a:xfrm>
          <a:custGeom>
            <a:avLst/>
            <a:gdLst/>
            <a:ahLst/>
            <a:cxnLst/>
            <a:rect r="r" b="b" t="t" l="l"/>
            <a:pathLst>
              <a:path h="1082267" w="7197072">
                <a:moveTo>
                  <a:pt x="0" y="0"/>
                </a:moveTo>
                <a:lnTo>
                  <a:pt x="7197072" y="0"/>
                </a:lnTo>
                <a:lnTo>
                  <a:pt x="719707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0789920" y="5197088"/>
            <a:ext cx="475488" cy="46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b="true" sz="3401" spc="-102">
                <a:solidFill>
                  <a:srgbClr val="F4B324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33504" y="5242000"/>
            <a:ext cx="3072384" cy="37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-68">
                <a:solidFill>
                  <a:srgbClr val="F4B324"/>
                </a:solidFill>
                <a:latin typeface="Roboto Bold"/>
                <a:ea typeface="Roboto Bold"/>
                <a:cs typeface="Roboto Bold"/>
                <a:sym typeface="Roboto Bold"/>
              </a:rPr>
              <a:t>AI RECOMMENDATION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0226842" y="5990729"/>
            <a:ext cx="7197072" cy="1082267"/>
          </a:xfrm>
          <a:custGeom>
            <a:avLst/>
            <a:gdLst/>
            <a:ahLst/>
            <a:cxnLst/>
            <a:rect r="r" b="b" t="t" l="l"/>
            <a:pathLst>
              <a:path h="1082267" w="7197072">
                <a:moveTo>
                  <a:pt x="0" y="0"/>
                </a:moveTo>
                <a:lnTo>
                  <a:pt x="7197072" y="0"/>
                </a:lnTo>
                <a:lnTo>
                  <a:pt x="719707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0753344" y="6318371"/>
            <a:ext cx="475488" cy="46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b="true" sz="3401" spc="-102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06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33504" y="6332422"/>
            <a:ext cx="1682496" cy="37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-6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SIMULATION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0226842" y="7062064"/>
            <a:ext cx="7197072" cy="1082267"/>
          </a:xfrm>
          <a:custGeom>
            <a:avLst/>
            <a:gdLst/>
            <a:ahLst/>
            <a:cxnLst/>
            <a:rect r="r" b="b" t="t" l="l"/>
            <a:pathLst>
              <a:path h="1082267" w="7197072">
                <a:moveTo>
                  <a:pt x="0" y="0"/>
                </a:moveTo>
                <a:lnTo>
                  <a:pt x="7197072" y="0"/>
                </a:lnTo>
                <a:lnTo>
                  <a:pt x="719707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0789920" y="7408793"/>
            <a:ext cx="475488" cy="46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1"/>
              </a:lnSpc>
            </a:pPr>
            <a:r>
              <a:rPr lang="en-US" b="true" sz="3401" spc="-102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07</a:t>
            </a:r>
          </a:p>
        </p:txBody>
      </p:sp>
      <p:sp>
        <p:nvSpPr>
          <p:cNvPr name="Freeform 36" id="36"/>
          <p:cNvSpPr/>
          <p:nvPr/>
        </p:nvSpPr>
        <p:spPr>
          <a:xfrm flipH="false" flipV="false" rot="0">
            <a:off x="9570574" y="634055"/>
            <a:ext cx="885962" cy="7302567"/>
          </a:xfrm>
          <a:custGeom>
            <a:avLst/>
            <a:gdLst/>
            <a:ahLst/>
            <a:cxnLst/>
            <a:rect r="r" b="b" t="t" l="l"/>
            <a:pathLst>
              <a:path h="7302567" w="885962">
                <a:moveTo>
                  <a:pt x="0" y="0"/>
                </a:moveTo>
                <a:lnTo>
                  <a:pt x="885962" y="0"/>
                </a:lnTo>
                <a:lnTo>
                  <a:pt x="885962" y="7302568"/>
                </a:lnTo>
                <a:lnTo>
                  <a:pt x="0" y="730256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12033504" y="7422844"/>
            <a:ext cx="3072384" cy="37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-6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ANALYTICS &amp; REPORTS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6854488" y="8255318"/>
            <a:ext cx="956310" cy="1698308"/>
            <a:chOff x="0" y="0"/>
            <a:chExt cx="1275080" cy="226441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44545" y="49040"/>
              <a:ext cx="1179765" cy="2164810"/>
            </a:xfrm>
            <a:custGeom>
              <a:avLst/>
              <a:gdLst/>
              <a:ahLst/>
              <a:cxnLst/>
              <a:rect r="r" b="b" t="t" l="l"/>
              <a:pathLst>
                <a:path h="2164810" w="1179765">
                  <a:moveTo>
                    <a:pt x="800005" y="1168890"/>
                  </a:moveTo>
                  <a:cubicBezTo>
                    <a:pt x="286925" y="1337800"/>
                    <a:pt x="199295" y="1410190"/>
                    <a:pt x="145955" y="1419080"/>
                  </a:cubicBezTo>
                  <a:cubicBezTo>
                    <a:pt x="119285" y="1422890"/>
                    <a:pt x="97695" y="1417810"/>
                    <a:pt x="82455" y="1407650"/>
                  </a:cubicBezTo>
                  <a:cubicBezTo>
                    <a:pt x="69755" y="1398760"/>
                    <a:pt x="60865" y="1379710"/>
                    <a:pt x="57055" y="1365740"/>
                  </a:cubicBezTo>
                  <a:cubicBezTo>
                    <a:pt x="54515" y="1355580"/>
                    <a:pt x="54515" y="1344150"/>
                    <a:pt x="58325" y="1333990"/>
                  </a:cubicBezTo>
                  <a:cubicBezTo>
                    <a:pt x="63405" y="1320020"/>
                    <a:pt x="72295" y="1303510"/>
                    <a:pt x="88805" y="1294620"/>
                  </a:cubicBezTo>
                  <a:cubicBezTo>
                    <a:pt x="111665" y="1281920"/>
                    <a:pt x="144685" y="1287000"/>
                    <a:pt x="198025" y="1288270"/>
                  </a:cubicBezTo>
                  <a:cubicBezTo>
                    <a:pt x="344075" y="1292080"/>
                    <a:pt x="891445" y="1340340"/>
                    <a:pt x="1017175" y="1372090"/>
                  </a:cubicBezTo>
                  <a:cubicBezTo>
                    <a:pt x="1055275" y="1382250"/>
                    <a:pt x="1066705" y="1388600"/>
                    <a:pt x="1090835" y="1403840"/>
                  </a:cubicBezTo>
                  <a:cubicBezTo>
                    <a:pt x="1117505" y="1420350"/>
                    <a:pt x="1153065" y="1444480"/>
                    <a:pt x="1167035" y="1471150"/>
                  </a:cubicBezTo>
                  <a:cubicBezTo>
                    <a:pt x="1181005" y="1499090"/>
                    <a:pt x="1179735" y="1537190"/>
                    <a:pt x="1179735" y="1567670"/>
                  </a:cubicBezTo>
                  <a:cubicBezTo>
                    <a:pt x="1179735" y="1595610"/>
                    <a:pt x="1177195" y="1622280"/>
                    <a:pt x="1168305" y="1648950"/>
                  </a:cubicBezTo>
                  <a:cubicBezTo>
                    <a:pt x="1158145" y="1675620"/>
                    <a:pt x="1134015" y="1690860"/>
                    <a:pt x="1122585" y="1726420"/>
                  </a:cubicBezTo>
                  <a:cubicBezTo>
                    <a:pt x="1103535" y="1792460"/>
                    <a:pt x="1134015" y="1968990"/>
                    <a:pt x="1104805" y="2021060"/>
                  </a:cubicBezTo>
                  <a:cubicBezTo>
                    <a:pt x="1089565" y="2047730"/>
                    <a:pt x="1064165" y="2062970"/>
                    <a:pt x="1041305" y="2065510"/>
                  </a:cubicBezTo>
                  <a:cubicBezTo>
                    <a:pt x="1018445" y="2068050"/>
                    <a:pt x="993045" y="2060430"/>
                    <a:pt x="968915" y="2037570"/>
                  </a:cubicBezTo>
                  <a:cubicBezTo>
                    <a:pt x="916845" y="1988040"/>
                    <a:pt x="850805" y="1801350"/>
                    <a:pt x="813975" y="1698480"/>
                  </a:cubicBezTo>
                  <a:cubicBezTo>
                    <a:pt x="784765" y="1615930"/>
                    <a:pt x="764445" y="1532110"/>
                    <a:pt x="755555" y="1471150"/>
                  </a:cubicBezTo>
                  <a:cubicBezTo>
                    <a:pt x="749205" y="1433050"/>
                    <a:pt x="747935" y="1407650"/>
                    <a:pt x="749205" y="1374630"/>
                  </a:cubicBezTo>
                  <a:cubicBezTo>
                    <a:pt x="751745" y="1341610"/>
                    <a:pt x="751745" y="1298430"/>
                    <a:pt x="766985" y="1274300"/>
                  </a:cubicBezTo>
                  <a:cubicBezTo>
                    <a:pt x="779685" y="1253980"/>
                    <a:pt x="805085" y="1236200"/>
                    <a:pt x="825405" y="1232390"/>
                  </a:cubicBezTo>
                  <a:cubicBezTo>
                    <a:pt x="843185" y="1228580"/>
                    <a:pt x="866045" y="1234930"/>
                    <a:pt x="880015" y="1245090"/>
                  </a:cubicBezTo>
                  <a:cubicBezTo>
                    <a:pt x="893985" y="1255250"/>
                    <a:pt x="902875" y="1264140"/>
                    <a:pt x="911765" y="1290810"/>
                  </a:cubicBezTo>
                  <a:cubicBezTo>
                    <a:pt x="940975" y="1373360"/>
                    <a:pt x="951135" y="1732770"/>
                    <a:pt x="947325" y="1872470"/>
                  </a:cubicBezTo>
                  <a:cubicBezTo>
                    <a:pt x="944785" y="1951210"/>
                    <a:pt x="947325" y="2022330"/>
                    <a:pt x="923195" y="2056620"/>
                  </a:cubicBezTo>
                  <a:cubicBezTo>
                    <a:pt x="909225" y="2076940"/>
                    <a:pt x="882555" y="2088370"/>
                    <a:pt x="862235" y="2088370"/>
                  </a:cubicBezTo>
                  <a:cubicBezTo>
                    <a:pt x="841915" y="2088370"/>
                    <a:pt x="812705" y="2070590"/>
                    <a:pt x="801275" y="2055350"/>
                  </a:cubicBezTo>
                  <a:cubicBezTo>
                    <a:pt x="789845" y="2041380"/>
                    <a:pt x="797465" y="2027410"/>
                    <a:pt x="788575" y="2003280"/>
                  </a:cubicBezTo>
                  <a:cubicBezTo>
                    <a:pt x="768255" y="1944860"/>
                    <a:pt x="688245" y="1811510"/>
                    <a:pt x="648875" y="1713720"/>
                  </a:cubicBezTo>
                  <a:cubicBezTo>
                    <a:pt x="610775" y="1617200"/>
                    <a:pt x="577755" y="1510520"/>
                    <a:pt x="556165" y="1421620"/>
                  </a:cubicBezTo>
                  <a:cubicBezTo>
                    <a:pt x="538385" y="1350500"/>
                    <a:pt x="511715" y="1266680"/>
                    <a:pt x="520605" y="1222230"/>
                  </a:cubicBezTo>
                  <a:cubicBezTo>
                    <a:pt x="525685" y="1198100"/>
                    <a:pt x="539655" y="1179050"/>
                    <a:pt x="554895" y="1170160"/>
                  </a:cubicBezTo>
                  <a:cubicBezTo>
                    <a:pt x="568865" y="1161270"/>
                    <a:pt x="589185" y="1160000"/>
                    <a:pt x="603155" y="1162540"/>
                  </a:cubicBezTo>
                  <a:cubicBezTo>
                    <a:pt x="614585" y="1163810"/>
                    <a:pt x="623475" y="1168890"/>
                    <a:pt x="632365" y="1176510"/>
                  </a:cubicBezTo>
                  <a:cubicBezTo>
                    <a:pt x="642525" y="1186670"/>
                    <a:pt x="651415" y="1196830"/>
                    <a:pt x="656495" y="1218420"/>
                  </a:cubicBezTo>
                  <a:cubicBezTo>
                    <a:pt x="667925" y="1271760"/>
                    <a:pt x="638715" y="1407650"/>
                    <a:pt x="634905" y="1515600"/>
                  </a:cubicBezTo>
                  <a:cubicBezTo>
                    <a:pt x="631095" y="1645140"/>
                    <a:pt x="656495" y="1878820"/>
                    <a:pt x="636175" y="1944860"/>
                  </a:cubicBezTo>
                  <a:cubicBezTo>
                    <a:pt x="628555" y="1967720"/>
                    <a:pt x="620935" y="1976610"/>
                    <a:pt x="608235" y="1985500"/>
                  </a:cubicBezTo>
                  <a:cubicBezTo>
                    <a:pt x="595535" y="1994390"/>
                    <a:pt x="575215" y="1999470"/>
                    <a:pt x="559975" y="1996930"/>
                  </a:cubicBezTo>
                  <a:cubicBezTo>
                    <a:pt x="544735" y="1995660"/>
                    <a:pt x="526955" y="1985500"/>
                    <a:pt x="515525" y="1974070"/>
                  </a:cubicBezTo>
                  <a:cubicBezTo>
                    <a:pt x="505365" y="1962640"/>
                    <a:pt x="504095" y="1951210"/>
                    <a:pt x="499015" y="1928350"/>
                  </a:cubicBezTo>
                  <a:cubicBezTo>
                    <a:pt x="486315" y="1867390"/>
                    <a:pt x="449485" y="1660380"/>
                    <a:pt x="482505" y="1591800"/>
                  </a:cubicBezTo>
                  <a:cubicBezTo>
                    <a:pt x="502825" y="1548620"/>
                    <a:pt x="568865" y="1501630"/>
                    <a:pt x="590455" y="1513060"/>
                  </a:cubicBezTo>
                  <a:cubicBezTo>
                    <a:pt x="631095" y="1535920"/>
                    <a:pt x="589185" y="1895330"/>
                    <a:pt x="571405" y="1958830"/>
                  </a:cubicBezTo>
                  <a:cubicBezTo>
                    <a:pt x="566325" y="1976610"/>
                    <a:pt x="562515" y="1982960"/>
                    <a:pt x="552355" y="1991850"/>
                  </a:cubicBezTo>
                  <a:cubicBezTo>
                    <a:pt x="540925" y="2003280"/>
                    <a:pt x="519335" y="2014710"/>
                    <a:pt x="501555" y="2017250"/>
                  </a:cubicBezTo>
                  <a:cubicBezTo>
                    <a:pt x="483775" y="2018520"/>
                    <a:pt x="460915" y="2012170"/>
                    <a:pt x="446945" y="2000740"/>
                  </a:cubicBezTo>
                  <a:cubicBezTo>
                    <a:pt x="431705" y="1990580"/>
                    <a:pt x="416465" y="1972800"/>
                    <a:pt x="415195" y="1953750"/>
                  </a:cubicBezTo>
                  <a:cubicBezTo>
                    <a:pt x="413925" y="1928350"/>
                    <a:pt x="445675" y="1911840"/>
                    <a:pt x="454565" y="1864850"/>
                  </a:cubicBezTo>
                  <a:cubicBezTo>
                    <a:pt x="483775" y="1730230"/>
                    <a:pt x="444405" y="1165080"/>
                    <a:pt x="457105" y="1026650"/>
                  </a:cubicBezTo>
                  <a:cubicBezTo>
                    <a:pt x="460915" y="982200"/>
                    <a:pt x="457105" y="964420"/>
                    <a:pt x="472345" y="937750"/>
                  </a:cubicBezTo>
                  <a:cubicBezTo>
                    <a:pt x="487585" y="906000"/>
                    <a:pt x="520605" y="862820"/>
                    <a:pt x="556165" y="855200"/>
                  </a:cubicBezTo>
                  <a:cubicBezTo>
                    <a:pt x="599345" y="846310"/>
                    <a:pt x="673005" y="884410"/>
                    <a:pt x="717455" y="917430"/>
                  </a:cubicBezTo>
                  <a:cubicBezTo>
                    <a:pt x="763175" y="950450"/>
                    <a:pt x="793655" y="1006330"/>
                    <a:pt x="826675" y="1053320"/>
                  </a:cubicBezTo>
                  <a:cubicBezTo>
                    <a:pt x="858425" y="1099040"/>
                    <a:pt x="883825" y="1140950"/>
                    <a:pt x="910495" y="1194290"/>
                  </a:cubicBezTo>
                  <a:cubicBezTo>
                    <a:pt x="940975" y="1253980"/>
                    <a:pt x="970185" y="1323830"/>
                    <a:pt x="996855" y="1397490"/>
                  </a:cubicBezTo>
                  <a:cubicBezTo>
                    <a:pt x="1024795" y="1478770"/>
                    <a:pt x="1055275" y="1579100"/>
                    <a:pt x="1073055" y="1660380"/>
                  </a:cubicBezTo>
                  <a:cubicBezTo>
                    <a:pt x="1087025" y="1731500"/>
                    <a:pt x="1112425" y="1817860"/>
                    <a:pt x="1099725" y="1859770"/>
                  </a:cubicBezTo>
                  <a:cubicBezTo>
                    <a:pt x="1093375" y="1883900"/>
                    <a:pt x="1075595" y="1902950"/>
                    <a:pt x="1057815" y="1909300"/>
                  </a:cubicBezTo>
                  <a:cubicBezTo>
                    <a:pt x="1040035" y="1916920"/>
                    <a:pt x="1008285" y="1910570"/>
                    <a:pt x="993045" y="1902950"/>
                  </a:cubicBezTo>
                  <a:cubicBezTo>
                    <a:pt x="981615" y="1897870"/>
                    <a:pt x="977805" y="1891520"/>
                    <a:pt x="970185" y="1878820"/>
                  </a:cubicBezTo>
                  <a:cubicBezTo>
                    <a:pt x="953675" y="1850880"/>
                    <a:pt x="932085" y="1787380"/>
                    <a:pt x="916845" y="1736580"/>
                  </a:cubicBezTo>
                  <a:cubicBezTo>
                    <a:pt x="900335" y="1680700"/>
                    <a:pt x="896525" y="1628630"/>
                    <a:pt x="878745" y="1556240"/>
                  </a:cubicBezTo>
                  <a:cubicBezTo>
                    <a:pt x="849535" y="1444480"/>
                    <a:pt x="731425" y="1205720"/>
                    <a:pt x="750475" y="1130790"/>
                  </a:cubicBezTo>
                  <a:cubicBezTo>
                    <a:pt x="759365" y="1099040"/>
                    <a:pt x="800005" y="1067290"/>
                    <a:pt x="811435" y="1072370"/>
                  </a:cubicBezTo>
                  <a:cubicBezTo>
                    <a:pt x="827945" y="1081260"/>
                    <a:pt x="796195" y="1186670"/>
                    <a:pt x="796195" y="1278110"/>
                  </a:cubicBezTo>
                  <a:cubicBezTo>
                    <a:pt x="796195" y="1459720"/>
                    <a:pt x="872395" y="1994390"/>
                    <a:pt x="858425" y="2097260"/>
                  </a:cubicBezTo>
                  <a:cubicBezTo>
                    <a:pt x="855885" y="2121390"/>
                    <a:pt x="852075" y="2130280"/>
                    <a:pt x="843185" y="2141710"/>
                  </a:cubicBezTo>
                  <a:cubicBezTo>
                    <a:pt x="833025" y="2153140"/>
                    <a:pt x="816515" y="2162030"/>
                    <a:pt x="801275" y="2164570"/>
                  </a:cubicBezTo>
                  <a:cubicBezTo>
                    <a:pt x="787305" y="2165840"/>
                    <a:pt x="766985" y="2162030"/>
                    <a:pt x="755555" y="2154410"/>
                  </a:cubicBezTo>
                  <a:cubicBezTo>
                    <a:pt x="742855" y="2145520"/>
                    <a:pt x="732695" y="2132820"/>
                    <a:pt x="727615" y="2115040"/>
                  </a:cubicBezTo>
                  <a:cubicBezTo>
                    <a:pt x="719995" y="2085830"/>
                    <a:pt x="740315" y="2047730"/>
                    <a:pt x="739045" y="1988040"/>
                  </a:cubicBezTo>
                  <a:cubicBezTo>
                    <a:pt x="735235" y="1848340"/>
                    <a:pt x="661575" y="1488930"/>
                    <a:pt x="638715" y="1287000"/>
                  </a:cubicBezTo>
                  <a:cubicBezTo>
                    <a:pt x="622205" y="1134600"/>
                    <a:pt x="601885" y="941560"/>
                    <a:pt x="605695" y="883140"/>
                  </a:cubicBezTo>
                  <a:cubicBezTo>
                    <a:pt x="606965" y="866630"/>
                    <a:pt x="606965" y="861550"/>
                    <a:pt x="612045" y="851390"/>
                  </a:cubicBezTo>
                  <a:cubicBezTo>
                    <a:pt x="618395" y="839960"/>
                    <a:pt x="631095" y="824720"/>
                    <a:pt x="646335" y="819640"/>
                  </a:cubicBezTo>
                  <a:cubicBezTo>
                    <a:pt x="662845" y="813290"/>
                    <a:pt x="692055" y="814560"/>
                    <a:pt x="707295" y="824720"/>
                  </a:cubicBezTo>
                  <a:cubicBezTo>
                    <a:pt x="722535" y="833610"/>
                    <a:pt x="730155" y="848850"/>
                    <a:pt x="737775" y="878060"/>
                  </a:cubicBezTo>
                  <a:cubicBezTo>
                    <a:pt x="761905" y="966960"/>
                    <a:pt x="764445" y="1384790"/>
                    <a:pt x="739045" y="1464800"/>
                  </a:cubicBezTo>
                  <a:cubicBezTo>
                    <a:pt x="731425" y="1487660"/>
                    <a:pt x="723805" y="1496550"/>
                    <a:pt x="711105" y="1505440"/>
                  </a:cubicBezTo>
                  <a:cubicBezTo>
                    <a:pt x="698405" y="1514330"/>
                    <a:pt x="676815" y="1518140"/>
                    <a:pt x="662845" y="1516870"/>
                  </a:cubicBezTo>
                  <a:cubicBezTo>
                    <a:pt x="651415" y="1516870"/>
                    <a:pt x="641255" y="1513060"/>
                    <a:pt x="631095" y="1505440"/>
                  </a:cubicBezTo>
                  <a:cubicBezTo>
                    <a:pt x="620935" y="1496550"/>
                    <a:pt x="609505" y="1485120"/>
                    <a:pt x="603155" y="1464800"/>
                  </a:cubicBezTo>
                  <a:cubicBezTo>
                    <a:pt x="591725" y="1424160"/>
                    <a:pt x="618395" y="1337800"/>
                    <a:pt x="615855" y="1261600"/>
                  </a:cubicBezTo>
                  <a:cubicBezTo>
                    <a:pt x="614585" y="1166350"/>
                    <a:pt x="575215" y="1011410"/>
                    <a:pt x="581565" y="932670"/>
                  </a:cubicBezTo>
                  <a:cubicBezTo>
                    <a:pt x="585375" y="889490"/>
                    <a:pt x="610775" y="864090"/>
                    <a:pt x="610775" y="832340"/>
                  </a:cubicBezTo>
                  <a:cubicBezTo>
                    <a:pt x="612045" y="805670"/>
                    <a:pt x="596805" y="794240"/>
                    <a:pt x="591725" y="756140"/>
                  </a:cubicBezTo>
                  <a:cubicBezTo>
                    <a:pt x="580295" y="662160"/>
                    <a:pt x="570135" y="366250"/>
                    <a:pt x="585375" y="240520"/>
                  </a:cubicBezTo>
                  <a:cubicBezTo>
                    <a:pt x="594265" y="168130"/>
                    <a:pt x="601885" y="107170"/>
                    <a:pt x="629825" y="70340"/>
                  </a:cubicBezTo>
                  <a:cubicBezTo>
                    <a:pt x="650145" y="43670"/>
                    <a:pt x="681895" y="30970"/>
                    <a:pt x="712375" y="23350"/>
                  </a:cubicBezTo>
                  <a:cubicBezTo>
                    <a:pt x="746665" y="17000"/>
                    <a:pt x="797465" y="18270"/>
                    <a:pt x="826675" y="34780"/>
                  </a:cubicBezTo>
                  <a:cubicBezTo>
                    <a:pt x="852075" y="50020"/>
                    <a:pt x="873665" y="79230"/>
                    <a:pt x="880015" y="113520"/>
                  </a:cubicBezTo>
                  <a:cubicBezTo>
                    <a:pt x="890175" y="165590"/>
                    <a:pt x="843185" y="254490"/>
                    <a:pt x="834295" y="325610"/>
                  </a:cubicBezTo>
                  <a:cubicBezTo>
                    <a:pt x="824135" y="395460"/>
                    <a:pt x="822865" y="455150"/>
                    <a:pt x="824135" y="537700"/>
                  </a:cubicBezTo>
                  <a:cubicBezTo>
                    <a:pt x="825405" y="648190"/>
                    <a:pt x="829215" y="810750"/>
                    <a:pt x="854615" y="931400"/>
                  </a:cubicBezTo>
                  <a:cubicBezTo>
                    <a:pt x="876205" y="1039350"/>
                    <a:pt x="929545" y="1139680"/>
                    <a:pt x="953675" y="1228580"/>
                  </a:cubicBezTo>
                  <a:cubicBezTo>
                    <a:pt x="973995" y="1299700"/>
                    <a:pt x="987965" y="1344150"/>
                    <a:pt x="996855" y="1422890"/>
                  </a:cubicBezTo>
                  <a:cubicBezTo>
                    <a:pt x="1009555" y="1539730"/>
                    <a:pt x="1010825" y="1753090"/>
                    <a:pt x="999395" y="1869930"/>
                  </a:cubicBezTo>
                  <a:cubicBezTo>
                    <a:pt x="991775" y="1947400"/>
                    <a:pt x="987965" y="2014710"/>
                    <a:pt x="960025" y="2059160"/>
                  </a:cubicBezTo>
                  <a:cubicBezTo>
                    <a:pt x="939705" y="2093450"/>
                    <a:pt x="902875" y="2118850"/>
                    <a:pt x="873665" y="2130280"/>
                  </a:cubicBezTo>
                  <a:cubicBezTo>
                    <a:pt x="848265" y="2140440"/>
                    <a:pt x="821595" y="2137900"/>
                    <a:pt x="794925" y="2134090"/>
                  </a:cubicBezTo>
                  <a:cubicBezTo>
                    <a:pt x="766985" y="2131550"/>
                    <a:pt x="732695" y="2123930"/>
                    <a:pt x="707295" y="2108690"/>
                  </a:cubicBezTo>
                  <a:cubicBezTo>
                    <a:pt x="683165" y="2093450"/>
                    <a:pt x="660305" y="2068050"/>
                    <a:pt x="648875" y="2042650"/>
                  </a:cubicBezTo>
                  <a:cubicBezTo>
                    <a:pt x="636175" y="2018520"/>
                    <a:pt x="638715" y="1998200"/>
                    <a:pt x="634905" y="1958830"/>
                  </a:cubicBezTo>
                  <a:cubicBezTo>
                    <a:pt x="627285" y="1869930"/>
                    <a:pt x="633635" y="1664190"/>
                    <a:pt x="624745" y="1516870"/>
                  </a:cubicBezTo>
                  <a:cubicBezTo>
                    <a:pt x="617125" y="1370820"/>
                    <a:pt x="594265" y="1217150"/>
                    <a:pt x="586645" y="1077450"/>
                  </a:cubicBezTo>
                  <a:cubicBezTo>
                    <a:pt x="581565" y="950450"/>
                    <a:pt x="572675" y="817100"/>
                    <a:pt x="584105" y="714230"/>
                  </a:cubicBezTo>
                  <a:cubicBezTo>
                    <a:pt x="592995" y="636760"/>
                    <a:pt x="623475" y="575800"/>
                    <a:pt x="632365" y="511030"/>
                  </a:cubicBezTo>
                  <a:cubicBezTo>
                    <a:pt x="638715" y="453880"/>
                    <a:pt x="626015" y="399270"/>
                    <a:pt x="634905" y="343390"/>
                  </a:cubicBezTo>
                  <a:cubicBezTo>
                    <a:pt x="642525" y="287510"/>
                    <a:pt x="662845" y="222740"/>
                    <a:pt x="681895" y="178290"/>
                  </a:cubicBezTo>
                  <a:cubicBezTo>
                    <a:pt x="695865" y="145270"/>
                    <a:pt x="718725" y="94470"/>
                    <a:pt x="730155" y="95740"/>
                  </a:cubicBezTo>
                  <a:cubicBezTo>
                    <a:pt x="741585" y="98280"/>
                    <a:pt x="760635" y="168130"/>
                    <a:pt x="749205" y="180830"/>
                  </a:cubicBezTo>
                  <a:cubicBezTo>
                    <a:pt x="739045" y="193530"/>
                    <a:pt x="695865" y="166860"/>
                    <a:pt x="673005" y="180830"/>
                  </a:cubicBezTo>
                  <a:cubicBezTo>
                    <a:pt x="637445" y="199880"/>
                    <a:pt x="623475" y="274810"/>
                    <a:pt x="585375" y="335770"/>
                  </a:cubicBezTo>
                  <a:cubicBezTo>
                    <a:pt x="525685" y="427210"/>
                    <a:pt x="411385" y="552940"/>
                    <a:pt x="336455" y="668510"/>
                  </a:cubicBezTo>
                  <a:cubicBezTo>
                    <a:pt x="264065" y="780270"/>
                    <a:pt x="195485" y="1006330"/>
                    <a:pt x="143415" y="1013950"/>
                  </a:cubicBezTo>
                  <a:cubicBezTo>
                    <a:pt x="119285" y="1017760"/>
                    <a:pt x="77375" y="974580"/>
                    <a:pt x="77375" y="952990"/>
                  </a:cubicBezTo>
                  <a:cubicBezTo>
                    <a:pt x="78645" y="923780"/>
                    <a:pt x="158655" y="872980"/>
                    <a:pt x="190405" y="857740"/>
                  </a:cubicBezTo>
                  <a:cubicBezTo>
                    <a:pt x="209455" y="850120"/>
                    <a:pt x="224695" y="846310"/>
                    <a:pt x="241205" y="851390"/>
                  </a:cubicBezTo>
                  <a:cubicBezTo>
                    <a:pt x="261525" y="856470"/>
                    <a:pt x="292005" y="878060"/>
                    <a:pt x="300895" y="898380"/>
                  </a:cubicBezTo>
                  <a:cubicBezTo>
                    <a:pt x="308515" y="918700"/>
                    <a:pt x="305975" y="955530"/>
                    <a:pt x="294545" y="974580"/>
                  </a:cubicBezTo>
                  <a:cubicBezTo>
                    <a:pt x="281845" y="992360"/>
                    <a:pt x="250095" y="1010140"/>
                    <a:pt x="228505" y="1011410"/>
                  </a:cubicBezTo>
                  <a:cubicBezTo>
                    <a:pt x="205645" y="1011410"/>
                    <a:pt x="173895" y="996170"/>
                    <a:pt x="159925" y="977120"/>
                  </a:cubicBezTo>
                  <a:cubicBezTo>
                    <a:pt x="147225" y="959340"/>
                    <a:pt x="142145" y="923780"/>
                    <a:pt x="151035" y="902190"/>
                  </a:cubicBezTo>
                  <a:cubicBezTo>
                    <a:pt x="158655" y="881870"/>
                    <a:pt x="186595" y="859010"/>
                    <a:pt x="206915" y="852660"/>
                  </a:cubicBezTo>
                  <a:cubicBezTo>
                    <a:pt x="223425" y="846310"/>
                    <a:pt x="243745" y="850120"/>
                    <a:pt x="257715" y="856470"/>
                  </a:cubicBezTo>
                  <a:cubicBezTo>
                    <a:pt x="272955" y="862820"/>
                    <a:pt x="288195" y="876790"/>
                    <a:pt x="297085" y="890760"/>
                  </a:cubicBezTo>
                  <a:cubicBezTo>
                    <a:pt x="304705" y="904730"/>
                    <a:pt x="308515" y="925050"/>
                    <a:pt x="305975" y="941560"/>
                  </a:cubicBezTo>
                  <a:cubicBezTo>
                    <a:pt x="303435" y="958070"/>
                    <a:pt x="295815" y="970770"/>
                    <a:pt x="283115" y="987280"/>
                  </a:cubicBezTo>
                  <a:cubicBezTo>
                    <a:pt x="261525" y="1015220"/>
                    <a:pt x="210725" y="1060940"/>
                    <a:pt x="173895" y="1079990"/>
                  </a:cubicBezTo>
                  <a:cubicBezTo>
                    <a:pt x="145955" y="1095230"/>
                    <a:pt x="115475" y="1110470"/>
                    <a:pt x="88805" y="1106660"/>
                  </a:cubicBezTo>
                  <a:cubicBezTo>
                    <a:pt x="60865" y="1101580"/>
                    <a:pt x="24035" y="1073640"/>
                    <a:pt x="10065" y="1048240"/>
                  </a:cubicBezTo>
                  <a:cubicBezTo>
                    <a:pt x="-2635" y="1022840"/>
                    <a:pt x="-2635" y="996170"/>
                    <a:pt x="6255" y="958070"/>
                  </a:cubicBezTo>
                  <a:cubicBezTo>
                    <a:pt x="25305" y="874250"/>
                    <a:pt x="142145" y="701530"/>
                    <a:pt x="210725" y="583420"/>
                  </a:cubicBezTo>
                  <a:cubicBezTo>
                    <a:pt x="274225" y="476740"/>
                    <a:pt x="354235" y="347200"/>
                    <a:pt x="403765" y="279890"/>
                  </a:cubicBezTo>
                  <a:cubicBezTo>
                    <a:pt x="430435" y="244330"/>
                    <a:pt x="452025" y="232900"/>
                    <a:pt x="471075" y="203690"/>
                  </a:cubicBezTo>
                  <a:cubicBezTo>
                    <a:pt x="492665" y="171940"/>
                    <a:pt x="502825" y="124950"/>
                    <a:pt x="526955" y="93200"/>
                  </a:cubicBezTo>
                  <a:cubicBezTo>
                    <a:pt x="549815" y="63990"/>
                    <a:pt x="579025" y="36050"/>
                    <a:pt x="609505" y="20810"/>
                  </a:cubicBezTo>
                  <a:cubicBezTo>
                    <a:pt x="637445" y="6840"/>
                    <a:pt x="671735" y="4300"/>
                    <a:pt x="702215" y="1760"/>
                  </a:cubicBezTo>
                  <a:cubicBezTo>
                    <a:pt x="731425" y="490"/>
                    <a:pt x="761905" y="-3320"/>
                    <a:pt x="787305" y="6840"/>
                  </a:cubicBezTo>
                  <a:cubicBezTo>
                    <a:pt x="815245" y="17000"/>
                    <a:pt x="848265" y="42400"/>
                    <a:pt x="863505" y="70340"/>
                  </a:cubicBezTo>
                  <a:cubicBezTo>
                    <a:pt x="878745" y="100820"/>
                    <a:pt x="877475" y="144000"/>
                    <a:pt x="871125" y="184640"/>
                  </a:cubicBezTo>
                  <a:cubicBezTo>
                    <a:pt x="864775" y="234170"/>
                    <a:pt x="821595" y="287510"/>
                    <a:pt x="811435" y="343390"/>
                  </a:cubicBezTo>
                  <a:cubicBezTo>
                    <a:pt x="798735" y="401810"/>
                    <a:pt x="812705" y="464040"/>
                    <a:pt x="805085" y="525000"/>
                  </a:cubicBezTo>
                  <a:cubicBezTo>
                    <a:pt x="796195" y="588500"/>
                    <a:pt x="766985" y="640570"/>
                    <a:pt x="758095" y="714230"/>
                  </a:cubicBezTo>
                  <a:cubicBezTo>
                    <a:pt x="745395" y="814560"/>
                    <a:pt x="751745" y="932670"/>
                    <a:pt x="756825" y="1072370"/>
                  </a:cubicBezTo>
                  <a:cubicBezTo>
                    <a:pt x="764445" y="1269220"/>
                    <a:pt x="806355" y="1629900"/>
                    <a:pt x="811435" y="1784840"/>
                  </a:cubicBezTo>
                  <a:cubicBezTo>
                    <a:pt x="813975" y="1859770"/>
                    <a:pt x="806355" y="1952480"/>
                    <a:pt x="810165" y="1953750"/>
                  </a:cubicBezTo>
                  <a:cubicBezTo>
                    <a:pt x="813975" y="1953750"/>
                    <a:pt x="822865" y="1906760"/>
                    <a:pt x="826675" y="1867390"/>
                  </a:cubicBezTo>
                  <a:cubicBezTo>
                    <a:pt x="835565" y="1786110"/>
                    <a:pt x="819055" y="1570210"/>
                    <a:pt x="829215" y="1490200"/>
                  </a:cubicBezTo>
                  <a:cubicBezTo>
                    <a:pt x="833025" y="1453370"/>
                    <a:pt x="850805" y="1444480"/>
                    <a:pt x="848265" y="1408920"/>
                  </a:cubicBezTo>
                  <a:cubicBezTo>
                    <a:pt x="843185" y="1331450"/>
                    <a:pt x="742855" y="1186670"/>
                    <a:pt x="711105" y="1054590"/>
                  </a:cubicBezTo>
                  <a:cubicBezTo>
                    <a:pt x="674275" y="899650"/>
                    <a:pt x="666655" y="664700"/>
                    <a:pt x="659035" y="535160"/>
                  </a:cubicBezTo>
                  <a:cubicBezTo>
                    <a:pt x="655225" y="457690"/>
                    <a:pt x="652685" y="414510"/>
                    <a:pt x="660305" y="348470"/>
                  </a:cubicBezTo>
                  <a:cubicBezTo>
                    <a:pt x="669195" y="269730"/>
                    <a:pt x="690785" y="102090"/>
                    <a:pt x="718725" y="95740"/>
                  </a:cubicBezTo>
                  <a:cubicBezTo>
                    <a:pt x="733965" y="91930"/>
                    <a:pt x="768255" y="140190"/>
                    <a:pt x="773335" y="164320"/>
                  </a:cubicBezTo>
                  <a:cubicBezTo>
                    <a:pt x="779685" y="188450"/>
                    <a:pt x="761905" y="203690"/>
                    <a:pt x="756825" y="240520"/>
                  </a:cubicBezTo>
                  <a:cubicBezTo>
                    <a:pt x="745395" y="345930"/>
                    <a:pt x="759365" y="734550"/>
                    <a:pt x="747935" y="843770"/>
                  </a:cubicBezTo>
                  <a:cubicBezTo>
                    <a:pt x="744125" y="884410"/>
                    <a:pt x="733965" y="889490"/>
                    <a:pt x="731425" y="927590"/>
                  </a:cubicBezTo>
                  <a:cubicBezTo>
                    <a:pt x="727615" y="1002520"/>
                    <a:pt x="760635" y="1166350"/>
                    <a:pt x="759365" y="1264140"/>
                  </a:cubicBezTo>
                  <a:cubicBezTo>
                    <a:pt x="759365" y="1340340"/>
                    <a:pt x="754285" y="1424160"/>
                    <a:pt x="739045" y="1464800"/>
                  </a:cubicBezTo>
                  <a:cubicBezTo>
                    <a:pt x="731425" y="1485120"/>
                    <a:pt x="722535" y="1496550"/>
                    <a:pt x="711105" y="1505440"/>
                  </a:cubicBezTo>
                  <a:cubicBezTo>
                    <a:pt x="702215" y="1513060"/>
                    <a:pt x="692055" y="1516870"/>
                    <a:pt x="679355" y="1516870"/>
                  </a:cubicBezTo>
                  <a:cubicBezTo>
                    <a:pt x="665385" y="1518140"/>
                    <a:pt x="643795" y="1514330"/>
                    <a:pt x="631095" y="1505440"/>
                  </a:cubicBezTo>
                  <a:cubicBezTo>
                    <a:pt x="618395" y="1496550"/>
                    <a:pt x="610775" y="1487660"/>
                    <a:pt x="603155" y="1464800"/>
                  </a:cubicBezTo>
                  <a:cubicBezTo>
                    <a:pt x="579025" y="1384790"/>
                    <a:pt x="591725" y="966960"/>
                    <a:pt x="605695" y="883140"/>
                  </a:cubicBezTo>
                  <a:cubicBezTo>
                    <a:pt x="609505" y="859010"/>
                    <a:pt x="610775" y="850120"/>
                    <a:pt x="620935" y="838690"/>
                  </a:cubicBezTo>
                  <a:cubicBezTo>
                    <a:pt x="629825" y="827260"/>
                    <a:pt x="646335" y="817100"/>
                    <a:pt x="661575" y="814560"/>
                  </a:cubicBezTo>
                  <a:cubicBezTo>
                    <a:pt x="675545" y="812020"/>
                    <a:pt x="694595" y="815830"/>
                    <a:pt x="707295" y="824720"/>
                  </a:cubicBezTo>
                  <a:cubicBezTo>
                    <a:pt x="719995" y="832340"/>
                    <a:pt x="727615" y="841230"/>
                    <a:pt x="735235" y="861550"/>
                  </a:cubicBezTo>
                  <a:cubicBezTo>
                    <a:pt x="758095" y="923780"/>
                    <a:pt x="742855" y="1115550"/>
                    <a:pt x="760635" y="1270490"/>
                  </a:cubicBezTo>
                  <a:cubicBezTo>
                    <a:pt x="783495" y="1478770"/>
                    <a:pt x="873665" y="1854690"/>
                    <a:pt x="874935" y="1994390"/>
                  </a:cubicBezTo>
                  <a:cubicBezTo>
                    <a:pt x="874935" y="2050270"/>
                    <a:pt x="867315" y="2084560"/>
                    <a:pt x="857155" y="2113770"/>
                  </a:cubicBezTo>
                  <a:cubicBezTo>
                    <a:pt x="850805" y="2130280"/>
                    <a:pt x="844455" y="2144250"/>
                    <a:pt x="830485" y="2153140"/>
                  </a:cubicBezTo>
                  <a:cubicBezTo>
                    <a:pt x="816515" y="2162030"/>
                    <a:pt x="787305" y="2167110"/>
                    <a:pt x="769525" y="2160760"/>
                  </a:cubicBezTo>
                  <a:cubicBezTo>
                    <a:pt x="753015" y="2154410"/>
                    <a:pt x="737775" y="2140440"/>
                    <a:pt x="727615" y="2115040"/>
                  </a:cubicBezTo>
                  <a:cubicBezTo>
                    <a:pt x="703485" y="2056620"/>
                    <a:pt x="727615" y="1901680"/>
                    <a:pt x="718725" y="1777220"/>
                  </a:cubicBezTo>
                  <a:cubicBezTo>
                    <a:pt x="707295" y="1626090"/>
                    <a:pt x="664115" y="1392410"/>
                    <a:pt x="659035" y="1271760"/>
                  </a:cubicBezTo>
                  <a:cubicBezTo>
                    <a:pt x="656495" y="1204450"/>
                    <a:pt x="656495" y="1156190"/>
                    <a:pt x="665385" y="1114280"/>
                  </a:cubicBezTo>
                  <a:cubicBezTo>
                    <a:pt x="673005" y="1082530"/>
                    <a:pt x="678085" y="1057130"/>
                    <a:pt x="695865" y="1034270"/>
                  </a:cubicBezTo>
                  <a:cubicBezTo>
                    <a:pt x="718725" y="1007600"/>
                    <a:pt x="770795" y="963150"/>
                    <a:pt x="798735" y="969500"/>
                  </a:cubicBezTo>
                  <a:cubicBezTo>
                    <a:pt x="830485" y="977120"/>
                    <a:pt x="845725" y="1030460"/>
                    <a:pt x="872395" y="1091420"/>
                  </a:cubicBezTo>
                  <a:cubicBezTo>
                    <a:pt x="937165" y="1234930"/>
                    <a:pt x="1114965" y="1764520"/>
                    <a:pt x="1099725" y="1859770"/>
                  </a:cubicBezTo>
                  <a:cubicBezTo>
                    <a:pt x="1097185" y="1883900"/>
                    <a:pt x="1083215" y="1892790"/>
                    <a:pt x="1073055" y="1901680"/>
                  </a:cubicBezTo>
                  <a:cubicBezTo>
                    <a:pt x="1064165" y="1909300"/>
                    <a:pt x="1052735" y="1913110"/>
                    <a:pt x="1041305" y="1914380"/>
                  </a:cubicBezTo>
                  <a:cubicBezTo>
                    <a:pt x="1027335" y="1915650"/>
                    <a:pt x="1005745" y="1910570"/>
                    <a:pt x="993045" y="1902950"/>
                  </a:cubicBezTo>
                  <a:cubicBezTo>
                    <a:pt x="982885" y="1897870"/>
                    <a:pt x="976535" y="1891520"/>
                    <a:pt x="970185" y="1878820"/>
                  </a:cubicBezTo>
                  <a:cubicBezTo>
                    <a:pt x="954945" y="1847070"/>
                    <a:pt x="961295" y="1760710"/>
                    <a:pt x="948595" y="1694670"/>
                  </a:cubicBezTo>
                  <a:cubicBezTo>
                    <a:pt x="933355" y="1618470"/>
                    <a:pt x="904145" y="1524490"/>
                    <a:pt x="876205" y="1449560"/>
                  </a:cubicBezTo>
                  <a:cubicBezTo>
                    <a:pt x="850805" y="1383520"/>
                    <a:pt x="831755" y="1330180"/>
                    <a:pt x="793655" y="1266680"/>
                  </a:cubicBezTo>
                  <a:cubicBezTo>
                    <a:pt x="749205" y="1190480"/>
                    <a:pt x="651415" y="1013950"/>
                    <a:pt x="613315" y="1026650"/>
                  </a:cubicBezTo>
                  <a:cubicBezTo>
                    <a:pt x="551085" y="1046970"/>
                    <a:pt x="631095" y="1684510"/>
                    <a:pt x="606965" y="1840720"/>
                  </a:cubicBezTo>
                  <a:cubicBezTo>
                    <a:pt x="596805" y="1906760"/>
                    <a:pt x="580295" y="1948670"/>
                    <a:pt x="563785" y="1976610"/>
                  </a:cubicBezTo>
                  <a:cubicBezTo>
                    <a:pt x="554895" y="1990580"/>
                    <a:pt x="549815" y="1998200"/>
                    <a:pt x="537115" y="2004550"/>
                  </a:cubicBezTo>
                  <a:cubicBezTo>
                    <a:pt x="520605" y="2012170"/>
                    <a:pt x="483775" y="2019790"/>
                    <a:pt x="463455" y="2010900"/>
                  </a:cubicBezTo>
                  <a:cubicBezTo>
                    <a:pt x="443135" y="2002010"/>
                    <a:pt x="425355" y="1974070"/>
                    <a:pt x="415195" y="1953750"/>
                  </a:cubicBezTo>
                  <a:cubicBezTo>
                    <a:pt x="407575" y="1935970"/>
                    <a:pt x="406305" y="1919460"/>
                    <a:pt x="405035" y="1897870"/>
                  </a:cubicBezTo>
                  <a:cubicBezTo>
                    <a:pt x="405035" y="1866120"/>
                    <a:pt x="419005" y="1830560"/>
                    <a:pt x="424085" y="1786110"/>
                  </a:cubicBezTo>
                  <a:cubicBezTo>
                    <a:pt x="429165" y="1718800"/>
                    <a:pt x="415195" y="1591800"/>
                    <a:pt x="429165" y="1532110"/>
                  </a:cubicBezTo>
                  <a:cubicBezTo>
                    <a:pt x="436785" y="1497820"/>
                    <a:pt x="441865" y="1467340"/>
                    <a:pt x="464725" y="1454640"/>
                  </a:cubicBezTo>
                  <a:cubicBezTo>
                    <a:pt x="496475" y="1438130"/>
                    <a:pt x="585375" y="1439400"/>
                    <a:pt x="618395" y="1477500"/>
                  </a:cubicBezTo>
                  <a:cubicBezTo>
                    <a:pt x="676815" y="1542270"/>
                    <a:pt x="656495" y="1875010"/>
                    <a:pt x="636175" y="1944860"/>
                  </a:cubicBezTo>
                  <a:cubicBezTo>
                    <a:pt x="629825" y="1967720"/>
                    <a:pt x="620935" y="1976610"/>
                    <a:pt x="608235" y="1985500"/>
                  </a:cubicBezTo>
                  <a:cubicBezTo>
                    <a:pt x="595535" y="1994390"/>
                    <a:pt x="575215" y="1999470"/>
                    <a:pt x="559975" y="1996930"/>
                  </a:cubicBezTo>
                  <a:cubicBezTo>
                    <a:pt x="544735" y="1995660"/>
                    <a:pt x="526955" y="1985500"/>
                    <a:pt x="516795" y="1974070"/>
                  </a:cubicBezTo>
                  <a:cubicBezTo>
                    <a:pt x="505365" y="1962640"/>
                    <a:pt x="502825" y="1952480"/>
                    <a:pt x="499015" y="1928350"/>
                  </a:cubicBezTo>
                  <a:cubicBezTo>
                    <a:pt x="483775" y="1843260"/>
                    <a:pt x="495205" y="1471150"/>
                    <a:pt x="504095" y="1347960"/>
                  </a:cubicBezTo>
                  <a:cubicBezTo>
                    <a:pt x="507905" y="1290810"/>
                    <a:pt x="509175" y="1255250"/>
                    <a:pt x="520605" y="1222230"/>
                  </a:cubicBezTo>
                  <a:cubicBezTo>
                    <a:pt x="529495" y="1200640"/>
                    <a:pt x="539655" y="1179050"/>
                    <a:pt x="554895" y="1170160"/>
                  </a:cubicBezTo>
                  <a:cubicBezTo>
                    <a:pt x="568865" y="1161270"/>
                    <a:pt x="587915" y="1158730"/>
                    <a:pt x="603155" y="1162540"/>
                  </a:cubicBezTo>
                  <a:cubicBezTo>
                    <a:pt x="619665" y="1167620"/>
                    <a:pt x="639985" y="1181590"/>
                    <a:pt x="651415" y="1203180"/>
                  </a:cubicBezTo>
                  <a:cubicBezTo>
                    <a:pt x="671735" y="1238740"/>
                    <a:pt x="661575" y="1316210"/>
                    <a:pt x="678085" y="1382250"/>
                  </a:cubicBezTo>
                  <a:cubicBezTo>
                    <a:pt x="697135" y="1464800"/>
                    <a:pt x="732695" y="1560050"/>
                    <a:pt x="772065" y="1657840"/>
                  </a:cubicBezTo>
                  <a:cubicBezTo>
                    <a:pt x="816515" y="1772140"/>
                    <a:pt x="939705" y="1960100"/>
                    <a:pt x="937165" y="2023600"/>
                  </a:cubicBezTo>
                  <a:cubicBezTo>
                    <a:pt x="935895" y="2046460"/>
                    <a:pt x="923195" y="2059160"/>
                    <a:pt x="911765" y="2069320"/>
                  </a:cubicBezTo>
                  <a:cubicBezTo>
                    <a:pt x="902875" y="2078210"/>
                    <a:pt x="892715" y="2084560"/>
                    <a:pt x="880015" y="2085830"/>
                  </a:cubicBezTo>
                  <a:cubicBezTo>
                    <a:pt x="864775" y="2088370"/>
                    <a:pt x="840645" y="2085830"/>
                    <a:pt x="827945" y="2079480"/>
                  </a:cubicBezTo>
                  <a:cubicBezTo>
                    <a:pt x="816515" y="2074400"/>
                    <a:pt x="807625" y="2064240"/>
                    <a:pt x="801275" y="2055350"/>
                  </a:cubicBezTo>
                  <a:cubicBezTo>
                    <a:pt x="794925" y="2045190"/>
                    <a:pt x="791115" y="2037570"/>
                    <a:pt x="788575" y="2021060"/>
                  </a:cubicBezTo>
                  <a:cubicBezTo>
                    <a:pt x="782225" y="1977880"/>
                    <a:pt x="803815" y="1875010"/>
                    <a:pt x="801275" y="1782300"/>
                  </a:cubicBezTo>
                  <a:cubicBezTo>
                    <a:pt x="798735" y="1651490"/>
                    <a:pt x="747935" y="1388600"/>
                    <a:pt x="758095" y="1311130"/>
                  </a:cubicBezTo>
                  <a:cubicBezTo>
                    <a:pt x="761905" y="1284460"/>
                    <a:pt x="765715" y="1271760"/>
                    <a:pt x="777145" y="1259060"/>
                  </a:cubicBezTo>
                  <a:cubicBezTo>
                    <a:pt x="788575" y="1246360"/>
                    <a:pt x="808895" y="1234930"/>
                    <a:pt x="825405" y="1232390"/>
                  </a:cubicBezTo>
                  <a:cubicBezTo>
                    <a:pt x="843185" y="1229850"/>
                    <a:pt x="866045" y="1234930"/>
                    <a:pt x="880015" y="1245090"/>
                  </a:cubicBezTo>
                  <a:cubicBezTo>
                    <a:pt x="893985" y="1255250"/>
                    <a:pt x="905415" y="1269220"/>
                    <a:pt x="911765" y="1290810"/>
                  </a:cubicBezTo>
                  <a:cubicBezTo>
                    <a:pt x="921925" y="1326370"/>
                    <a:pt x="901605" y="1406380"/>
                    <a:pt x="905415" y="1450830"/>
                  </a:cubicBezTo>
                  <a:cubicBezTo>
                    <a:pt x="907955" y="1483850"/>
                    <a:pt x="913035" y="1507980"/>
                    <a:pt x="920655" y="1537190"/>
                  </a:cubicBezTo>
                  <a:cubicBezTo>
                    <a:pt x="928275" y="1568940"/>
                    <a:pt x="934625" y="1591800"/>
                    <a:pt x="951135" y="1632440"/>
                  </a:cubicBezTo>
                  <a:cubicBezTo>
                    <a:pt x="982885" y="1713720"/>
                    <a:pt x="1108615" y="1924540"/>
                    <a:pt x="1114965" y="1982960"/>
                  </a:cubicBezTo>
                  <a:cubicBezTo>
                    <a:pt x="1116235" y="2002010"/>
                    <a:pt x="1111155" y="2009630"/>
                    <a:pt x="1104805" y="2021060"/>
                  </a:cubicBezTo>
                  <a:cubicBezTo>
                    <a:pt x="1098455" y="2032490"/>
                    <a:pt x="1090835" y="2043920"/>
                    <a:pt x="1078135" y="2051540"/>
                  </a:cubicBezTo>
                  <a:cubicBezTo>
                    <a:pt x="1064165" y="2060430"/>
                    <a:pt x="1038765" y="2065510"/>
                    <a:pt x="1020985" y="2065510"/>
                  </a:cubicBezTo>
                  <a:cubicBezTo>
                    <a:pt x="1007015" y="2064240"/>
                    <a:pt x="995585" y="2059160"/>
                    <a:pt x="984155" y="2050270"/>
                  </a:cubicBezTo>
                  <a:cubicBezTo>
                    <a:pt x="971455" y="2040110"/>
                    <a:pt x="957485" y="2024870"/>
                    <a:pt x="951135" y="2002010"/>
                  </a:cubicBezTo>
                  <a:cubicBezTo>
                    <a:pt x="938435" y="1962640"/>
                    <a:pt x="949865" y="1876280"/>
                    <a:pt x="953675" y="1821670"/>
                  </a:cubicBezTo>
                  <a:cubicBezTo>
                    <a:pt x="957485" y="1775950"/>
                    <a:pt x="960025" y="1731500"/>
                    <a:pt x="970185" y="1694670"/>
                  </a:cubicBezTo>
                  <a:cubicBezTo>
                    <a:pt x="980345" y="1664190"/>
                    <a:pt x="1004475" y="1641330"/>
                    <a:pt x="1010825" y="1614660"/>
                  </a:cubicBezTo>
                  <a:cubicBezTo>
                    <a:pt x="1017175" y="1589260"/>
                    <a:pt x="1026065" y="1556240"/>
                    <a:pt x="1010825" y="1537190"/>
                  </a:cubicBezTo>
                  <a:cubicBezTo>
                    <a:pt x="989235" y="1507980"/>
                    <a:pt x="911765" y="1509250"/>
                    <a:pt x="843185" y="1496550"/>
                  </a:cubicBezTo>
                  <a:cubicBezTo>
                    <a:pt x="739045" y="1477500"/>
                    <a:pt x="566325" y="1455910"/>
                    <a:pt x="445675" y="1440670"/>
                  </a:cubicBezTo>
                  <a:cubicBezTo>
                    <a:pt x="342805" y="1429240"/>
                    <a:pt x="215805" y="1408920"/>
                    <a:pt x="161195" y="1411460"/>
                  </a:cubicBezTo>
                  <a:cubicBezTo>
                    <a:pt x="138335" y="1412730"/>
                    <a:pt x="128175" y="1422890"/>
                    <a:pt x="112935" y="1420350"/>
                  </a:cubicBezTo>
                  <a:cubicBezTo>
                    <a:pt x="97695" y="1417810"/>
                    <a:pt x="79915" y="1406380"/>
                    <a:pt x="71025" y="1396220"/>
                  </a:cubicBezTo>
                  <a:cubicBezTo>
                    <a:pt x="63405" y="1387330"/>
                    <a:pt x="58325" y="1377170"/>
                    <a:pt x="57055" y="1365740"/>
                  </a:cubicBezTo>
                  <a:cubicBezTo>
                    <a:pt x="55785" y="1351770"/>
                    <a:pt x="58325" y="1330180"/>
                    <a:pt x="64675" y="1318750"/>
                  </a:cubicBezTo>
                  <a:cubicBezTo>
                    <a:pt x="71025" y="1307320"/>
                    <a:pt x="74835" y="1303510"/>
                    <a:pt x="88805" y="1294620"/>
                  </a:cubicBezTo>
                  <a:cubicBezTo>
                    <a:pt x="125635" y="1267950"/>
                    <a:pt x="238665" y="1218420"/>
                    <a:pt x="332645" y="1180320"/>
                  </a:cubicBezTo>
                  <a:cubicBezTo>
                    <a:pt x="452025" y="1132060"/>
                    <a:pt x="676815" y="1049510"/>
                    <a:pt x="749205" y="1036810"/>
                  </a:cubicBezTo>
                  <a:cubicBezTo>
                    <a:pt x="773335" y="1033000"/>
                    <a:pt x="784765" y="1031730"/>
                    <a:pt x="798735" y="1036810"/>
                  </a:cubicBezTo>
                  <a:cubicBezTo>
                    <a:pt x="813975" y="1041890"/>
                    <a:pt x="829215" y="1055860"/>
                    <a:pt x="836835" y="1069830"/>
                  </a:cubicBezTo>
                  <a:cubicBezTo>
                    <a:pt x="844455" y="1083800"/>
                    <a:pt x="848265" y="1104120"/>
                    <a:pt x="843185" y="1119360"/>
                  </a:cubicBezTo>
                  <a:cubicBezTo>
                    <a:pt x="836835" y="1137140"/>
                    <a:pt x="800005" y="1168890"/>
                    <a:pt x="800005" y="1168890"/>
                  </a:cubicBezTo>
                </a:path>
              </a:pathLst>
            </a:custGeom>
            <a:solidFill>
              <a:srgbClr val="03162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DAHWf7Ks5hE</dc:identifier>
  <dcterms:modified xsi:type="dcterms:W3CDTF">2011-08-01T06:04:30Z</dcterms:modified>
  <cp:revision>1</cp:revision>
  <dc:title>CargoMind AI Optimization</dc:title>
</cp:coreProperties>
</file>